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66fdc466704a32" /><Relationship Type="http://schemas.openxmlformats.org/officeDocument/2006/relationships/extended-properties" Target="/docProps/app.xml" Id="Raf472c4fefb74ef4" /><Relationship Type="http://schemas.openxmlformats.org/officeDocument/2006/relationships/officeDocument" Target="/ppt/presentation.xml" Id="R5965a3eeb1d4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10c9bf6264cf4"/>
  </p:sldMasterIdLst>
  <p:notesMasterIdLst>
    <p:notesMasterId xmlns:r="http://schemas.openxmlformats.org/officeDocument/2006/relationships" r:id="R83bf71da441e4eb5"/>
  </p:notesMasterIdLst>
  <p:sldIdLst>
    <p:sldId xmlns:r="http://schemas.openxmlformats.org/officeDocument/2006/relationships" id="256" r:id="R804cd3a17fb44ce1"/>
    <p:sldId xmlns:r="http://schemas.openxmlformats.org/officeDocument/2006/relationships" id="257" r:id="R7986f229fe374a09"/>
    <p:sldId xmlns:r="http://schemas.openxmlformats.org/officeDocument/2006/relationships" id="258" r:id="R6ba50c59d6944def"/>
    <p:sldId xmlns:r="http://schemas.openxmlformats.org/officeDocument/2006/relationships" id="259" r:id="R58a93fa5c6bd45b6"/>
    <p:sldId xmlns:r="http://schemas.openxmlformats.org/officeDocument/2006/relationships" id="260" r:id="R58553ecf941046d0"/>
    <p:sldId xmlns:r="http://schemas.openxmlformats.org/officeDocument/2006/relationships" id="261" r:id="R3ed4162a25ee4bef"/>
    <p:sldId xmlns:r="http://schemas.openxmlformats.org/officeDocument/2006/relationships" id="262" r:id="R4cee246537ec4afe"/>
    <p:sldId xmlns:r="http://schemas.openxmlformats.org/officeDocument/2006/relationships" id="263" r:id="R9e96b7975a234115"/>
    <p:sldId xmlns:r="http://schemas.openxmlformats.org/officeDocument/2006/relationships" id="264" r:id="Re1d056bc730a48a2"/>
    <p:sldId xmlns:r="http://schemas.openxmlformats.org/officeDocument/2006/relationships" id="265" r:id="Rba5d8782ae554d99"/>
    <p:sldId xmlns:r="http://schemas.openxmlformats.org/officeDocument/2006/relationships" id="266" r:id="R6ff0c0e2f2a84211"/>
    <p:sldId xmlns:r="http://schemas.openxmlformats.org/officeDocument/2006/relationships" id="267" r:id="Re3fd5e8fbc084bf9"/>
    <p:sldId xmlns:r="http://schemas.openxmlformats.org/officeDocument/2006/relationships" id="268" r:id="R57675e3697ed482d"/>
    <p:sldId xmlns:r="http://schemas.openxmlformats.org/officeDocument/2006/relationships" id="269" r:id="Rebd47dc7335b4e19"/>
    <p:sldId xmlns:r="http://schemas.openxmlformats.org/officeDocument/2006/relationships" id="270" r:id="R81c0f37d5ece4da0"/>
    <p:sldId xmlns:r="http://schemas.openxmlformats.org/officeDocument/2006/relationships" id="271" r:id="R732f27bb202a4bff"/>
    <p:sldId xmlns:r="http://schemas.openxmlformats.org/officeDocument/2006/relationships" id="272" r:id="R8f4c1b85a82c4e0b"/>
    <p:sldId xmlns:r="http://schemas.openxmlformats.org/officeDocument/2006/relationships" id="273" r:id="Rc3dd7a035c7f488f"/>
    <p:sldId xmlns:r="http://schemas.openxmlformats.org/officeDocument/2006/relationships" id="274" r:id="Rd5be837dfb834cc1"/>
    <p:sldId xmlns:r="http://schemas.openxmlformats.org/officeDocument/2006/relationships" id="275" r:id="Rc23311565ecc4514"/>
    <p:sldId xmlns:r="http://schemas.openxmlformats.org/officeDocument/2006/relationships" id="276" r:id="Rbf095022a4594e26"/>
    <p:sldId xmlns:r="http://schemas.openxmlformats.org/officeDocument/2006/relationships" id="277" r:id="Rb742434dd9194b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bec8e9db74f66" /><Relationship Type="http://schemas.openxmlformats.org/officeDocument/2006/relationships/slideMaster" Target="/ppt/slideMasters/slideMaster1.xml" Id="R2eb10c9bf6264cf4" /><Relationship Type="http://schemas.openxmlformats.org/officeDocument/2006/relationships/notesMaster" Target="/ppt/notesMasters/notesMaster1.xml" Id="R83bf71da441e4eb5" /><Relationship Type="http://schemas.openxmlformats.org/officeDocument/2006/relationships/presProps" Target="/ppt/presProps.xml" Id="R7dcdcb59d0cc4bd6" /><Relationship Type="http://schemas.openxmlformats.org/officeDocument/2006/relationships/tableStyles" Target="/ppt/tableStyles.xml" Id="R7fc96121d8424ba0" /><Relationship Type="http://schemas.openxmlformats.org/officeDocument/2006/relationships/slide" Target="/ppt/slides/slide1.xml" Id="R804cd3a17fb44ce1" /><Relationship Type="http://schemas.openxmlformats.org/officeDocument/2006/relationships/slide" Target="/ppt/slides/slide2.xml" Id="R7986f229fe374a09" /><Relationship Type="http://schemas.openxmlformats.org/officeDocument/2006/relationships/slide" Target="/ppt/slides/slide3.xml" Id="R6ba50c59d6944def" /><Relationship Type="http://schemas.openxmlformats.org/officeDocument/2006/relationships/slide" Target="/ppt/slides/slide4.xml" Id="R58a93fa5c6bd45b6" /><Relationship Type="http://schemas.openxmlformats.org/officeDocument/2006/relationships/slide" Target="/ppt/slides/slide5.xml" Id="R58553ecf941046d0" /><Relationship Type="http://schemas.openxmlformats.org/officeDocument/2006/relationships/slide" Target="/ppt/slides/slide6.xml" Id="R3ed4162a25ee4bef" /><Relationship Type="http://schemas.openxmlformats.org/officeDocument/2006/relationships/slide" Target="/ppt/slides/slide7.xml" Id="R4cee246537ec4afe" /><Relationship Type="http://schemas.openxmlformats.org/officeDocument/2006/relationships/slide" Target="/ppt/slides/slide8.xml" Id="R9e96b7975a234115" /><Relationship Type="http://schemas.openxmlformats.org/officeDocument/2006/relationships/slide" Target="/ppt/slides/slide9.xml" Id="Re1d056bc730a48a2" /><Relationship Type="http://schemas.openxmlformats.org/officeDocument/2006/relationships/slide" Target="/ppt/slides/slide10.xml" Id="Rba5d8782ae554d99" /><Relationship Type="http://schemas.openxmlformats.org/officeDocument/2006/relationships/slide" Target="/ppt/slides/slide11.xml" Id="R6ff0c0e2f2a84211" /><Relationship Type="http://schemas.openxmlformats.org/officeDocument/2006/relationships/slide" Target="/ppt/slides/slide12.xml" Id="Re3fd5e8fbc084bf9" /><Relationship Type="http://schemas.openxmlformats.org/officeDocument/2006/relationships/slide" Target="/ppt/slides/slide13.xml" Id="R57675e3697ed482d" /><Relationship Type="http://schemas.openxmlformats.org/officeDocument/2006/relationships/slide" Target="/ppt/slides/slide14.xml" Id="Rebd47dc7335b4e19" /><Relationship Type="http://schemas.openxmlformats.org/officeDocument/2006/relationships/slide" Target="/ppt/slides/slide15.xml" Id="R81c0f37d5ece4da0" /><Relationship Type="http://schemas.openxmlformats.org/officeDocument/2006/relationships/slide" Target="/ppt/slides/slide16.xml" Id="R732f27bb202a4bff" /><Relationship Type="http://schemas.openxmlformats.org/officeDocument/2006/relationships/slide" Target="/ppt/slides/slide17.xml" Id="R8f4c1b85a82c4e0b" /><Relationship Type="http://schemas.openxmlformats.org/officeDocument/2006/relationships/slide" Target="/ppt/slides/slide18.xml" Id="Rc3dd7a035c7f488f" /><Relationship Type="http://schemas.openxmlformats.org/officeDocument/2006/relationships/slide" Target="/ppt/slides/slide19.xml" Id="Rd5be837dfb834cc1" /><Relationship Type="http://schemas.openxmlformats.org/officeDocument/2006/relationships/slide" Target="/ppt/slides/slide20.xml" Id="Rc23311565ecc4514" /><Relationship Type="http://schemas.openxmlformats.org/officeDocument/2006/relationships/slide" Target="/ppt/slides/slide21.xml" Id="Rbf095022a4594e26" /><Relationship Type="http://schemas.openxmlformats.org/officeDocument/2006/relationships/slide" Target="/ppt/slides/slide22.xml" Id="Rb742434dd919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a8fa15778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8b63514c94c20" /><Relationship Type="http://schemas.openxmlformats.org/officeDocument/2006/relationships/notesMaster" Target="/ppt/notesMasters/notesMaster1.xml" Id="Rad0b8484ff5543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8c2a28e2e4826" /><Relationship Type="http://schemas.openxmlformats.org/officeDocument/2006/relationships/notesMaster" Target="/ppt/notesMasters/notesMaster1.xml" Id="R1d1e6bb53c59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dee8e6bcc47e0" /><Relationship Type="http://schemas.openxmlformats.org/officeDocument/2006/relationships/notesMaster" Target="/ppt/notesMasters/notesMaster1.xml" Id="Raf2c99b8057a4f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2cef1c1404375" /><Relationship Type="http://schemas.openxmlformats.org/officeDocument/2006/relationships/notesMaster" Target="/ppt/notesMasters/notesMaster1.xml" Id="R07963ea0ac7f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517c6434b46c5" /><Relationship Type="http://schemas.openxmlformats.org/officeDocument/2006/relationships/notesMaster" Target="/ppt/notesMasters/notesMaster1.xml" Id="R4e4a8eba1e0844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34500bf3f4bb3" /><Relationship Type="http://schemas.openxmlformats.org/officeDocument/2006/relationships/notesMaster" Target="/ppt/notesMasters/notesMaster1.xml" Id="Rfe3c313203e0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95d8175964413a" /><Relationship Type="http://schemas.openxmlformats.org/officeDocument/2006/relationships/notesMaster" Target="/ppt/notesMasters/notesMaster1.xml" Id="Rf9bef4f7fa594b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5812dce1724e4a" /><Relationship Type="http://schemas.openxmlformats.org/officeDocument/2006/relationships/notesMaster" Target="/ppt/notesMasters/notesMaster1.xml" Id="Rd9eda768cd3045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16b7411d064bbe" /><Relationship Type="http://schemas.openxmlformats.org/officeDocument/2006/relationships/notesMaster" Target="/ppt/notesMasters/notesMaster1.xml" Id="R4b8fbbe3576643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d2cebe33f4124" /><Relationship Type="http://schemas.openxmlformats.org/officeDocument/2006/relationships/notesMaster" Target="/ppt/notesMasters/notesMaster1.xml" Id="R748d9b13554b40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9f281256634a8c" /><Relationship Type="http://schemas.openxmlformats.org/officeDocument/2006/relationships/notesMaster" Target="/ppt/notesMasters/notesMaster1.xml" Id="R4697ec80cadc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0dc965bf20478f" /><Relationship Type="http://schemas.openxmlformats.org/officeDocument/2006/relationships/notesMaster" Target="/ppt/notesMasters/notesMaster1.xml" Id="R608d27f5dec341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263cdfc4704fc8" /><Relationship Type="http://schemas.openxmlformats.org/officeDocument/2006/relationships/notesMaster" Target="/ppt/notesMasters/notesMaster1.xml" Id="R69f979e5e8344e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636a53739e4d5b" /><Relationship Type="http://schemas.openxmlformats.org/officeDocument/2006/relationships/notesMaster" Target="/ppt/notesMasters/notesMaster1.xml" Id="Racf1534adec24c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783e22abe94a24" /><Relationship Type="http://schemas.openxmlformats.org/officeDocument/2006/relationships/notesMaster" Target="/ppt/notesMasters/notesMaster1.xml" Id="R3f9f0383e2ec43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1a3b23d198497a" /><Relationship Type="http://schemas.openxmlformats.org/officeDocument/2006/relationships/notesMaster" Target="/ppt/notesMasters/notesMaster1.xml" Id="R33eaeef099f741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8596d5099b4fae" /><Relationship Type="http://schemas.openxmlformats.org/officeDocument/2006/relationships/notesMaster" Target="/ppt/notesMasters/notesMaster1.xml" Id="R0e2fec2bd1524e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4bd3a06db54ce1" /><Relationship Type="http://schemas.openxmlformats.org/officeDocument/2006/relationships/notesMaster" Target="/ppt/notesMasters/notesMaster1.xml" Id="Rce2c88ea23c044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d0050756314e92" /><Relationship Type="http://schemas.openxmlformats.org/officeDocument/2006/relationships/notesMaster" Target="/ppt/notesMasters/notesMaster1.xml" Id="Raa6e31a432ac4c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3cc0b9caa94b2c" /><Relationship Type="http://schemas.openxmlformats.org/officeDocument/2006/relationships/notesMaster" Target="/ppt/notesMasters/notesMaster1.xml" Id="R91903278ee5b42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a3d1a84c634b91" /><Relationship Type="http://schemas.openxmlformats.org/officeDocument/2006/relationships/notesMaster" Target="/ppt/notesMasters/notesMaster1.xml" Id="R3c3324814da64a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5080b16e6c4609" /><Relationship Type="http://schemas.openxmlformats.org/officeDocument/2006/relationships/notesMaster" Target="/ppt/notesMasters/notesMaster1.xml" Id="R6adf46c56a7e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unified R&amp;A project. The screenshots show the implemented local prototype, not a deployed institutional system. No SDD is being presented.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docs/EXECUTION_PLAN.md; docs/LabTrack_MASTER_CONTEXT.md A/D/AL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project team’s documented observations. Do not claim independently measured time savings or error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B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show existing patterns; no claim of absent competitor features or first-of-kind novelty. Snipe-IT: https://snipe-it.readme.io/docs/overview ; GLPI: https://help.glpi-project.org/documentation/modules/tools/reservations ; AWS: https://docs.aws.amazon.com/prescriptive-guidance/latest/cloud-design-patterns/transactional-outbox.html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docs/RESEARCH_REFERENCES.md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running app and distinguish it from historical pitch material. Overview values are actual synthetic records, not real departmental performance statistics.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src/frontend/src/main.tsx; .artifacts/demo-evidence.json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 Store is a system/inventory-management stage, not a separate user role. General HoD overwrite, discretionary reordering and administrative stock changes remain policy-bounded; the app does not expose an unrestricted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E/O/UAQ23–25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single-class routes are executable. Mixed-class approvals and multiple asset In-Charges remain open. Email links to the website; it does not authorize approval. Normal HoD stage cannot be skipped.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L/O; src/backend/labtrack/service.py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UI creates a synthetic project with a sequential PROJ identifier. Post-submission editing, lead transfer and custody-affecting membership changes are held at the open business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PART A3/F/UAQ23; src/backend/labtrack/models.py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retain individual history. A bill may cover multiple physical units. Consumables are not forced into per-unit identity and are not defined as disposable.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G/H/W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shows the implemented catalogue, class filters and lab detail controls. Out-of-stock items can be enrolled in FIFO or recorded as demand. Reservation pickup/holds are not represented as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J/K/L1; src/frontend/src/main.tsx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quantities are synthetic fixture values. Exact subset search is practical at the documented prototype scale. Plans do not reserve stock. Allocation within the selected set is deterministic; no automatic replan occurs after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fixtures/demo.json; docs/LabTrack_MASTER_CONTEXT.md I1; tests/test_workflows.py::test_plan_optimizes_labs_and_does_not_mutate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confirmed “Entire request across all labs” on 2026-10-15. Race tests validate the software boundary. Actual physical handover must be confirmed together; multi-operator coordination remains open and is not solved by a SQL transaction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docs/ASTRA/EXECUTION_AUTHORIZATION.md; tests/test_workflows.py::test_whole_request_shortage_never_partially_mutates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an active automatic reminder service. Calendar boundaries, catch-up semantics and overdue extensions remain OD-11. Reservation fulfilment/hold rules remain OD-04, independent of the configured expiry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R/S/T/U/V; docs/EXECUTION_DECISIONS.md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Damaged/defective asset inspection requires a photo; upload uses a replaceable storage boundary. Full ordinary returns are executable. Staged/cross-lab returns, repair authority and retained-project approval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W; tests/test_workflows.py::test_asset_damage_requires_evidence_and_no_auto_blame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 score has contradictory scope statements in the supplied context. This presentation does not announce it as implemented. Normal wear cannot automatically be treated as misconduct. Retained-in-project no-second-decrement rule is preserved as a guardrail, but the action awaits an authorized acceptance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docs/ASTRA/05_OPEN_DECISIONS.md OD-13/16; docs/LabTrack_MASTER_CONTEXT.md X/Y/Z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 is from the browser-validated asset lifecycle. Audit is in SQL with domain state and outbox; Mongo receives non-authoritative projections. No silent historical overwrite endpoint is provided.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src/backend/labtrack/models.py Audit; src/backend/labtrack/service.py; .artifacts/browser/browser-evidence.json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Outbox replay tests validate independent local channel recovery and deduplication. A failed channel does not reverse domain state. External Gmail ambiguous sends require operator review; exactly-once email is not claimed. Central Store is not a new application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AA/AB; src/backend/labtrack/worker.py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profile is explicitly distinct from MySQL/Mongo integration. Docker Desktop engine was unavailable; container builds and cloud service behavior were not verified. No institutional production rollout or DR readiness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AK/AF/BL; docs/RUN_GUIDE.md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is not the product authority or the main project identity. Metadata compatibility filtering is intentionally conservative; advice is not a guarantee of electrical/mechanical suitability. No external AI service was exercised.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M/N; src/backend/labtrack/api.py alternatives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DCDS: 10 marks, 40%, tentative 26–30 Oct 2026. CCE: 30 marks, tentative 19 Oct 2026. SQL/NoSQL connection and stored routine still require the actual database services; do not claim that local substitute validates those scoring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docs/DCDSL Evaluation Plan_with detailed rubrics.pdf pp1–3; docs/Evaluation_Plan_Cloud_Computing_Essentials.pdf pp1–2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docs/DEMO_RUNBOOK.md or scripts/demo_flow.py. API demo completed 13 checks; browser script exercises actual forms and roles. Both asset and consumable branches use synthetic data. Open http://127.0.0.1:8000 for the current local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scripts/demo_flow.py; scripts/browser_demo.mjs; .artifacts/demo-evidence.json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boundaries are explicit rather than silently invented. The user authorized project execution independently of the pending canonical SDD gate. The presentation is not itself an implementation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docs/EXECUTION_DECISIONS.md; docs/ASTRA/EXECUTION_AUTHORIZATION.md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about authority, concurrency, database ownership, replaceable adapters and the boundaries of current execution. Do not claim adoption, measured benefits or live cloud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docs/EXECUTION_PLAN.md; docs/DEMO_RUNBOOK.md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c345b23d441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a3699a75d42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e03eb24f247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94b5bd9244b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757138ba848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64e9d6a4b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784B1F-2C7B-4293-A2F9-4B7C9D25D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32A11E-9DE4-4DD6-9E44-1C5735B95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F19529-DE24-48CA-BF70-75DDFED4E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A058F-99C5-4CAB-B1C9-51FAE2996C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A18374-28D6-4A46-AFF4-F21AA1D95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33C301-1016-4ACD-8992-D4DDCDF01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98098D-046F-4549-A520-1EDB1EC88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F01239-401D-42B4-9170-3D3FA6D520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BEE2AB-BAC6-4EC6-BBF8-7D1C653B1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EE12E7-E5E9-4A07-8179-A4CBCD42B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779adc80ae4999" /><Relationship Type="http://schemas.openxmlformats.org/officeDocument/2006/relationships/slideLayout" Target="/ppt/slideLayouts/slideLayout1.xml" Id="R8abc198858ca4dc1" /><Relationship Type="http://schemas.openxmlformats.org/officeDocument/2006/relationships/slideLayout" Target="/ppt/slideLayouts/slideLayout2.xml" Id="Rb874b1aec35d4997" /><Relationship Type="http://schemas.openxmlformats.org/officeDocument/2006/relationships/slideLayout" Target="/ppt/slideLayouts/slideLayout3.xml" Id="Racafcf8f138848de" /><Relationship Type="http://schemas.openxmlformats.org/officeDocument/2006/relationships/slideLayout" Target="/ppt/slideLayouts/slideLayout4.xml" Id="Rab4ea31615624263" /><Relationship Type="http://schemas.openxmlformats.org/officeDocument/2006/relationships/slideLayout" Target="/ppt/slideLayouts/slideLayout5.xml" Id="Rc06d367078294c6d" /><Relationship Type="http://schemas.openxmlformats.org/officeDocument/2006/relationships/slideLayout" Target="/ppt/slideLayouts/slideLayout6.xml" Id="Ra72d8a3d6de64f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c198858ca4dc1"/>
    <p:sldLayoutId xmlns:r="http://schemas.openxmlformats.org/officeDocument/2006/relationships" id="2147483650" r:id="Rb874b1aec35d4997"/>
    <p:sldLayoutId xmlns:r="http://schemas.openxmlformats.org/officeDocument/2006/relationships" id="2147483651" r:id="Racafcf8f138848de"/>
    <p:sldLayoutId xmlns:r="http://schemas.openxmlformats.org/officeDocument/2006/relationships" id="2147483652" r:id="Rab4ea31615624263"/>
    <p:sldLayoutId xmlns:r="http://schemas.openxmlformats.org/officeDocument/2006/relationships" id="2147483653" r:id="Rc06d367078294c6d"/>
    <p:sldLayoutId xmlns:r="http://schemas.openxmlformats.org/officeDocument/2006/relationships" id="2147483654" r:id="Ra72d8a3d6de64f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685ee32314013" /><Relationship Type="http://schemas.openxmlformats.org/officeDocument/2006/relationships/image" Target="/ppt/media/image.png" Id="R5a7c430449144ef9" /><Relationship Type="http://schemas.openxmlformats.org/officeDocument/2006/relationships/notesSlide" Target="/ppt/notesSlides/notesSlide1.xml" Id="R85875b1fae984c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9db4c7ff14cdd" /><Relationship Type="http://schemas.openxmlformats.org/officeDocument/2006/relationships/notesSlide" Target="/ppt/notesSlides/notesSlide2.xml" Id="R1bfa9521b871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2e70c839e4499" /><Relationship Type="http://schemas.openxmlformats.org/officeDocument/2006/relationships/notesSlide" Target="/ppt/notesSlides/notesSlide3.xml" Id="Rbf4773a68dca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80a8aba7b4ec9" /><Relationship Type="http://schemas.openxmlformats.org/officeDocument/2006/relationships/image" Target="/ppt/media/image2.png" Id="R9c21bcbbb62d4030" /><Relationship Type="http://schemas.openxmlformats.org/officeDocument/2006/relationships/notesSlide" Target="/ppt/notesSlides/notesSlide4.xml" Id="Rfc94377adac9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d67002a964d03" /><Relationship Type="http://schemas.openxmlformats.org/officeDocument/2006/relationships/notesSlide" Target="/ppt/notesSlides/notesSlide5.xml" Id="R62204c77840b43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1898ec4024e7f" /><Relationship Type="http://schemas.openxmlformats.org/officeDocument/2006/relationships/notesSlide" Target="/ppt/notesSlides/notesSlide6.xml" Id="R0487ac589c6645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93121e2984184" /><Relationship Type="http://schemas.openxmlformats.org/officeDocument/2006/relationships/image" Target="/ppt/media/image3.png" Id="R5cad7870cd704890" /><Relationship Type="http://schemas.openxmlformats.org/officeDocument/2006/relationships/notesSlide" Target="/ppt/notesSlides/notesSlide7.xml" Id="R6527c7340fe7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da6b8bf8b4f9d" /><Relationship Type="http://schemas.openxmlformats.org/officeDocument/2006/relationships/notesSlide" Target="/ppt/notesSlides/notesSlide8.xml" Id="R78f057daa72e40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b82e62a924f84" /><Relationship Type="http://schemas.openxmlformats.org/officeDocument/2006/relationships/image" Target="/ppt/media/image4.png" Id="R87ecd08d63f24665" /><Relationship Type="http://schemas.openxmlformats.org/officeDocument/2006/relationships/notesSlide" Target="/ppt/notesSlides/notesSlide9.xml" Id="Reb03df6ce19f4e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04bb87dd64b1c" /><Relationship Type="http://schemas.openxmlformats.org/officeDocument/2006/relationships/notesSlide" Target="/ppt/notesSlides/notesSlide10.xml" Id="R559ac39f806b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91994013049e8" /><Relationship Type="http://schemas.openxmlformats.org/officeDocument/2006/relationships/notesSlide" Target="/ppt/notesSlides/notesSlide11.xml" Id="R3415f89b227047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f1b7483c24a96" /><Relationship Type="http://schemas.openxmlformats.org/officeDocument/2006/relationships/notesSlide" Target="/ppt/notesSlides/notesSlide12.xml" Id="R5645a6d4572346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6568b87b94c0f" /><Relationship Type="http://schemas.openxmlformats.org/officeDocument/2006/relationships/image" Target="/ppt/media/image5.png" Id="R98db2ad96e604691" /><Relationship Type="http://schemas.openxmlformats.org/officeDocument/2006/relationships/notesSlide" Target="/ppt/notesSlides/notesSlide13.xml" Id="Rcfdc4fc9c87644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223fceb554d0b" /><Relationship Type="http://schemas.openxmlformats.org/officeDocument/2006/relationships/notesSlide" Target="/ppt/notesSlides/notesSlide14.xml" Id="Reb47fc24f23f49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2a29c388a4b54" /><Relationship Type="http://schemas.openxmlformats.org/officeDocument/2006/relationships/image" Target="/ppt/media/image6.png" Id="R6a7fdd0fd9da4f32" /><Relationship Type="http://schemas.openxmlformats.org/officeDocument/2006/relationships/notesSlide" Target="/ppt/notesSlides/notesSlide15.xml" Id="R79ffc350f69347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b333f84704226" /><Relationship Type="http://schemas.openxmlformats.org/officeDocument/2006/relationships/image" Target="/ppt/media/image7.png" Id="R7efce3125b9a4a51" /><Relationship Type="http://schemas.openxmlformats.org/officeDocument/2006/relationships/notesSlide" Target="/ppt/notesSlides/notesSlide16.xml" Id="Rfa35d407689343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df7152cfc4db2" /><Relationship Type="http://schemas.openxmlformats.org/officeDocument/2006/relationships/notesSlide" Target="/ppt/notesSlides/notesSlide17.xml" Id="Rb0f76c85aeb440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be8a7e7724bc9" /><Relationship Type="http://schemas.openxmlformats.org/officeDocument/2006/relationships/notesSlide" Target="/ppt/notesSlides/notesSlide18.xml" Id="R8db332d595964c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bf3f15862419e" /><Relationship Type="http://schemas.openxmlformats.org/officeDocument/2006/relationships/notesSlide" Target="/ppt/notesSlides/notesSlide19.xml" Id="Rc08c6611e1ed45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f444af0954fbc" /><Relationship Type="http://schemas.openxmlformats.org/officeDocument/2006/relationships/notesSlide" Target="/ppt/notesSlides/notesSlide20.xml" Id="R42d1db30035543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706eca6924994" /><Relationship Type="http://schemas.openxmlformats.org/officeDocument/2006/relationships/notesSlide" Target="/ppt/notesSlides/notesSlide21.xml" Id="R48c669a5d19648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148fa52d249c9" /><Relationship Type="http://schemas.openxmlformats.org/officeDocument/2006/relationships/notesSlide" Target="/ppt/notesSlides/notesSlide22.xml" Id="R240f4e9f4aa34e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CE + DCDS · WORKING PROTOTYPE">
            <a:extLst xmlns:a="http://schemas.openxmlformats.org/drawingml/2006/main">
              <a:ext uri="{FF2B5EF4-FFF2-40B4-BE49-F238E27FC236}">
                <a16:creationId xmlns:a16="http://schemas.microsoft.com/office/drawing/2014/main" id="{1EE5067A-B263-4D33-85FF-53EFB56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CCE + DCDS · WORKING PROTOTYPE</a:t>
            </a:r>
          </a:p>
        </p:txBody>
      </p:sp>
      <p:sp>
        <p:nvSpPr>
          <p:cNvPr id="2" name="LabTrack.">
            <a:extLst xmlns:a="http://schemas.openxmlformats.org/drawingml/2006/main">
              <a:ext uri="{FF2B5EF4-FFF2-40B4-BE49-F238E27FC236}">
                <a16:creationId xmlns:a16="http://schemas.microsoft.com/office/drawing/2014/main" id="{E4253FD8-A08B-4C45-95FC-9774864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LabTrack.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6FBFC98F-14E7-43C5-B87E-4DFB85F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8720771-B707-4CCC-B461-317CFFA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Hardware component availability,&#10;is">
            <a:extLst xmlns:a="http://schemas.openxmlformats.org/drawingml/2006/main">
              <a:ext uri="{FF2B5EF4-FFF2-40B4-BE49-F238E27FC236}">
                <a16:creationId xmlns:a16="http://schemas.microsoft.com/office/drawing/2014/main" id="{3AC114E3-A72C-4EB8-8002-999875BD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Hardware component availability,</a:t>
            </a:r>
          </a:p>
          <a:p xmlns:a="http://schemas.openxmlformats.org/drawingml/2006/main">
            <a: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issuance &amp; tracking</a:t>
            </a:r>
          </a:p>
        </p:txBody>
      </p:sp>
      <p:sp>
        <p:nvSpPr>
          <p:cNvPr id="6" name="Project context. Physical custody.&#10;">
            <a:extLst xmlns:a="http://schemas.openxmlformats.org/drawingml/2006/main">
              <a:ext uri="{FF2B5EF4-FFF2-40B4-BE49-F238E27FC236}">
                <a16:creationId xmlns:a16="http://schemas.microsoft.com/office/drawing/2014/main" id="{D9420D49-BC97-492C-A787-E7E395B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Project context. Physical custody.</a:t>
            </a:r>
          </a:p>
          <a:p xmlns:a="http://schemas.openxmlformats.org/drawingml/2006/main">
            <a: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A complete history.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E048E-9E75-4A70-B9A8-7852953F8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c430449144ef9"/>
          <a:stretch xmlns:a="http://schemas.openxmlformats.org/drawingml/2006/main"/>
        </p:blipFill>
        <p:spPr>
          <a:xfrm xmlns:a="http://schemas.openxmlformats.org/drawingml/2006/main">
            <a:off x="6381750" y="2108597"/>
            <a:ext cx="5200650" cy="3250406"/>
          </a:xfrm>
          <a:prstGeom xmlns:a="http://schemas.openxmlformats.org/drawingml/2006/main" prst="rect">
            <a:avLst/>
          </a:prstGeom>
        </p:spPr>
      </p:pic>
      <p:sp>
        <p:nvSpPr>
          <p:cNvPr id="8" name="Ishaan · backend / database / integ">
            <a:extLst xmlns:a="http://schemas.openxmlformats.org/drawingml/2006/main">
              <a:ext uri="{FF2B5EF4-FFF2-40B4-BE49-F238E27FC236}">
                <a16:creationId xmlns:a16="http://schemas.microsoft.com/office/drawing/2014/main" id="{C367C092-E8A4-4F77-8237-9D36DD8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5619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B7A4"/>
                </a:solidFill>
                <a:latin typeface="Arial"/>
                <a:ea typeface="Arial"/>
                <a:cs typeface="Arial"/>
              </a:rPr>
              <a:t>Ishaan · backend / database / integration</a:t>
            </a:r>
          </a:p>
          <a:p xmlns:a="http://schemas.openxmlformats.org/drawingml/2006/main">
            <a: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B7A4"/>
                </a:solidFill>
                <a:latin typeface="Arial"/>
                <a:ea typeface="Arial"/>
                <a:cs typeface="Arial"/>
              </a:rPr>
              <a:t>Raghu · frontend</a:t>
            </a:r>
          </a:p>
        </p:txBody>
      </p:sp>
    </p:spTree>
    <p:extLst>
      <p:ext uri="{BB962C8B-B14F-4D97-AF65-F5344CB8AC3E}">
        <p14:creationId xmlns:p14="http://schemas.microsoft.com/office/powerpoint/2010/main" val="710354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BLEM &amp; CURRENT MANUAL PROCESS">
            <a:extLst xmlns:a="http://schemas.openxmlformats.org/drawingml/2006/main">
              <a:ext uri="{FF2B5EF4-FFF2-40B4-BE49-F238E27FC236}">
                <a16:creationId xmlns:a16="http://schemas.microsoft.com/office/drawing/2014/main" id="{72486EFC-5E0F-4809-9A3A-2052B92C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PROBLEM &amp; CURRENT MANUAL PROCESS</a:t>
            </a:r>
          </a:p>
        </p:txBody>
      </p:sp>
      <p:sp>
        <p:nvSpPr>
          <p:cNvPr id="2" name="The record is spread across tools.">
            <a:extLst xmlns:a="http://schemas.openxmlformats.org/drawingml/2006/main">
              <a:ext uri="{FF2B5EF4-FFF2-40B4-BE49-F238E27FC236}">
                <a16:creationId xmlns:a16="http://schemas.microsoft.com/office/drawing/2014/main" id="{DC512D8F-C023-49E4-B171-2691172B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record is spread across tools.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D3F10550-8C8B-4607-A326-F0C8B1D9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601A7D85-D5A3-419F-96AF-6010573F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0273469-391C-4F5F-B9F1-5B48924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Email: project requirements and app">
            <a:extLst xmlns:a="http://schemas.openxmlformats.org/drawingml/2006/main">
              <a:ext uri="{FF2B5EF4-FFF2-40B4-BE49-F238E27FC236}">
                <a16:creationId xmlns:a16="http://schemas.microsoft.com/office/drawing/2014/main" id="{73D09596-05F9-4B9E-AD18-BBFE20E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336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Email: project requirements and approval conversations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88028C6-FC22-489A-8CCF-990491A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xcel: inventory availability and l">
            <a:extLst xmlns:a="http://schemas.openxmlformats.org/drawingml/2006/main">
              <a:ext uri="{FF2B5EF4-FFF2-40B4-BE49-F238E27FC236}">
                <a16:creationId xmlns:a16="http://schemas.microsoft.com/office/drawing/2014/main" id="{2B745DCA-8A6D-4E93-B0FB-4B5BFCB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Excel: inventory availability and lab quantities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7B661D1-D9DF-44AE-867B-25B19EDD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Notebook: physical issue and custod">
            <a:extLst xmlns:a="http://schemas.openxmlformats.org/drawingml/2006/main">
              <a:ext uri="{FF2B5EF4-FFF2-40B4-BE49-F238E27FC236}">
                <a16:creationId xmlns:a16="http://schemas.microsoft.com/office/drawing/2014/main" id="{90F4ECA4-46A6-42A9-AC10-D5DCCB1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Notebook: physical issue and custody history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0F78061D-792B-48F8-B622-CD380F2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Manual follow-up: due dates, return">
            <a:extLst xmlns:a="http://schemas.openxmlformats.org/drawingml/2006/main">
              <a:ext uri="{FF2B5EF4-FFF2-40B4-BE49-F238E27FC236}">
                <a16:creationId xmlns:a16="http://schemas.microsoft.com/office/drawing/2014/main" id="{BACED3F0-C1BE-4BDE-822C-27CD87D2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339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Manual follow-up: due dates, return checks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1597174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SEARCH &amp; LITERATURE CONTEXT">
            <a:extLst xmlns:a="http://schemas.openxmlformats.org/drawingml/2006/main">
              <a:ext uri="{FF2B5EF4-FFF2-40B4-BE49-F238E27FC236}">
                <a16:creationId xmlns:a16="http://schemas.microsoft.com/office/drawing/2014/main" id="{2EF09B80-B944-4C25-8A93-A2ADC400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RESEARCH &amp; LITERATURE CONTEXT</a:t>
            </a:r>
          </a:p>
        </p:txBody>
      </p:sp>
      <p:sp>
        <p:nvSpPr>
          <p:cNvPr id="2" name="Existing patterns, a department-spe">
            <a:extLst xmlns:a="http://schemas.openxmlformats.org/drawingml/2006/main">
              <a:ext uri="{FF2B5EF4-FFF2-40B4-BE49-F238E27FC236}">
                <a16:creationId xmlns:a16="http://schemas.microsoft.com/office/drawing/2014/main" id="{75A69A2C-7F4B-4BDB-A55C-D853DB6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Existing patterns, a department-specific workflow.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344BD427-554A-485F-BC44-F90BAF2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502FC2DB-BAE8-4FEE-BBCB-20A78CDC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73294-F621-4E32-96AB-AA59805FC374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3619500"/>
                <a:gridCol w="4162425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Primary reference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Established pattern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LabTrack application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Snipe-IT documentation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 check-in / check-out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Physical-unit custody history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GLPI reservations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Equipment reservation slots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R&amp;A inventory queue context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AWS outbox guidance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Database + event consistency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 transaction / notification boundary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Project contribution: academic proj">
            <a:extLst xmlns:a="http://schemas.openxmlformats.org/drawingml/2006/main">
              <a:ext uri="{FF2B5EF4-FFF2-40B4-BE49-F238E27FC236}">
                <a16:creationId xmlns:a16="http://schemas.microsoft.com/office/drawing/2014/main" id="{6B9BB35D-F346-4052-8254-8968FB3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Project contribution: academic project ownership, class-specific faculty routing</a:t>
            </a:r>
          </a:p>
          <a:p xmlns:a="http://schemas.openxmlformats.org/drawingml/2006/main">
            <a: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and quantity-aware lab fulfilment in one R&amp;A lifecycle.</a:t>
            </a:r>
          </a:p>
        </p:txBody>
      </p:sp>
    </p:spTree>
    <p:extLst>
      <p:ext uri="{BB962C8B-B14F-4D97-AF65-F5344CB8AC3E}">
        <p14:creationId xmlns:p14="http://schemas.microsoft.com/office/powerpoint/2010/main" val="1928010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MPLEMENTED SOLUTION">
            <a:extLst xmlns:a="http://schemas.openxmlformats.org/drawingml/2006/main">
              <a:ext uri="{FF2B5EF4-FFF2-40B4-BE49-F238E27FC236}">
                <a16:creationId xmlns:a16="http://schemas.microsoft.com/office/drawing/2014/main" id="{4FD7805A-90C8-4AF0-ACD4-A8F23994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IMPLEMENTED SOLUTION</a:t>
            </a:r>
          </a:p>
        </p:txBody>
      </p:sp>
      <p:sp>
        <p:nvSpPr>
          <p:cNvPr id="2" name="One workspace for the hardware life">
            <a:extLst xmlns:a="http://schemas.openxmlformats.org/drawingml/2006/main">
              <a:ext uri="{FF2B5EF4-FFF2-40B4-BE49-F238E27FC236}">
                <a16:creationId xmlns:a16="http://schemas.microsoft.com/office/drawing/2014/main" id="{8A0096CA-011B-460A-B45D-C5B23F9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workspace for the hardware lifecycle.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F0A6C4BE-0522-4060-AD7A-0EAC701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977BDBE3-D043-4879-8DAC-ED4CDD4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587DE-5C6B-4DA6-AEDB-B11BB1D40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bcbbb62d4030"/>
          <a:stretch xmlns:a="http://schemas.openxmlformats.org/drawingml/2006/main"/>
        </p:blipFill>
        <p:spPr>
          <a:xfrm xmlns:a="http://schemas.openxmlformats.org/drawingml/2006/main">
            <a:off x="4627245" y="1962150"/>
            <a:ext cx="6614160" cy="4133850"/>
          </a:xfrm>
          <a:prstGeom xmlns:a="http://schemas.openxmlformats.org/drawingml/2006/main" prst="rect">
            <a:avLst/>
          </a:prstGeom>
        </p:spPr>
      </p:pic>
      <p:sp>
        <p:nvSpPr>
          <p:cNvPr id="6" name="Discover stock&#10;Submit a project req">
            <a:extLst xmlns:a="http://schemas.openxmlformats.org/drawingml/2006/main">
              <a:ext uri="{FF2B5EF4-FFF2-40B4-BE49-F238E27FC236}">
                <a16:creationId xmlns:a16="http://schemas.microsoft.com/office/drawing/2014/main" id="{6F0DCAC7-35F4-4C2E-8B99-86F426B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333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Discover stock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Submit a project request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Follow its approvals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Verify issue and return</a:t>
            </a:r>
          </a:p>
        </p:txBody>
      </p:sp>
      <p:sp>
        <p:nvSpPr>
          <p:cNvPr id="7" name="Running local prototype&#10;Synthetic d">
            <a:extLst xmlns:a="http://schemas.openxmlformats.org/drawingml/2006/main">
              <a:ext uri="{FF2B5EF4-FFF2-40B4-BE49-F238E27FC236}">
                <a16:creationId xmlns:a16="http://schemas.microsoft.com/office/drawing/2014/main" id="{B55C543E-5C99-45CB-8343-191176D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Running local prototype</a:t>
            </a:r>
          </a:p>
          <a:p xmlns:a="http://schemas.openxmlformats.org/drawingml/2006/main">
            <a: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Synthetic data throughout</a:t>
            </a:r>
          </a:p>
        </p:txBody>
      </p:sp>
    </p:spTree>
    <p:extLst>
      <p:ext uri="{BB962C8B-B14F-4D97-AF65-F5344CB8AC3E}">
        <p14:creationId xmlns:p14="http://schemas.microsoft.com/office/powerpoint/2010/main" val="1690780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SERS &amp; RESPONSIBILITY">
            <a:extLst xmlns:a="http://schemas.openxmlformats.org/drawingml/2006/main">
              <a:ext uri="{FF2B5EF4-FFF2-40B4-BE49-F238E27FC236}">
                <a16:creationId xmlns:a16="http://schemas.microsoft.com/office/drawing/2014/main" id="{B73A5B1F-377F-4F33-9B51-D89AED24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USERS &amp; RESPONSIBILITY</a:t>
            </a:r>
          </a:p>
        </p:txBody>
      </p:sp>
      <p:sp>
        <p:nvSpPr>
          <p:cNvPr id="2" name="The right actor at each step.">
            <a:extLst xmlns:a="http://schemas.openxmlformats.org/drawingml/2006/main">
              <a:ext uri="{FF2B5EF4-FFF2-40B4-BE49-F238E27FC236}">
                <a16:creationId xmlns:a16="http://schemas.microsoft.com/office/drawing/2014/main" id="{069758C4-D5A0-4192-8A4E-7F9266A6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right actor at each step.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9D523509-A0A4-46D0-8A42-D95E9BCC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1A7016B9-5262-4DA9-820E-6A97165E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6295-B8F7-4C82-97F7-17B272999112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56532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Actor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Recorded responsibility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Student / Project Lead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Project team, requirements and request submission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Faculty Mentor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First approve / reject review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Lab In-Charge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Asset-side faculty review; assigned labs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HoD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Normal final approval; R&amp;A-wide visibility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Lab Assistant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Physical verification, issue and inspection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Technical Admin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Setup, configuration and deployment support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899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ROVAL WORKFLOW">
            <a:extLst xmlns:a="http://schemas.openxmlformats.org/drawingml/2006/main">
              <a:ext uri="{FF2B5EF4-FFF2-40B4-BE49-F238E27FC236}">
                <a16:creationId xmlns:a16="http://schemas.microsoft.com/office/drawing/2014/main" id="{135D2B8A-6F7D-418C-A343-3AC1D97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APPROVAL WORKFLOW</a:t>
            </a:r>
          </a:p>
        </p:txBody>
      </p:sp>
      <p:sp>
        <p:nvSpPr>
          <p:cNvPr id="2" name="Approval and physical issue stay di">
            <a:extLst xmlns:a="http://schemas.openxmlformats.org/drawingml/2006/main">
              <a:ext uri="{FF2B5EF4-FFF2-40B4-BE49-F238E27FC236}">
                <a16:creationId xmlns:a16="http://schemas.microsoft.com/office/drawing/2014/main" id="{FE534CBE-CEC8-4321-95CD-6625009F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Approval and physical issue stay distinct.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C3602406-2176-4B10-BC2D-72843C30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699D5D4A-C2B3-46A2-A848-D50EB836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CONSUMABLES">
            <a:extLst xmlns:a="http://schemas.openxmlformats.org/drawingml/2006/main">
              <a:ext uri="{FF2B5EF4-FFF2-40B4-BE49-F238E27FC236}">
                <a16:creationId xmlns:a16="http://schemas.microsoft.com/office/drawing/2014/main" id="{4DFD9241-1D1F-450C-A781-7041DA2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CONSUMABLES</a:t>
            </a:r>
          </a:p>
        </p:txBody>
      </p:sp>
      <p:sp>
        <p:nvSpPr>
          <p:cNvPr id="6" name="Student  →  Mentor  →  Central Stor">
            <a:extLst xmlns:a="http://schemas.openxmlformats.org/drawingml/2006/main">
              <a:ext uri="{FF2B5EF4-FFF2-40B4-BE49-F238E27FC236}">
                <a16:creationId xmlns:a16="http://schemas.microsoft.com/office/drawing/2014/main" id="{3A2F03BD-4D5E-4A27-B111-29F4147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 →  Mentor  →  Central Store  →  HoD</a:t>
            </a:r>
          </a:p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→  Lab Assistant  →  Physical issue</a:t>
            </a:r>
          </a:p>
        </p:txBody>
      </p:sp>
      <p:sp>
        <p:nvSpPr>
          <p:cNvPr id="7" name="ASSETS">
            <a:extLst xmlns:a="http://schemas.openxmlformats.org/drawingml/2006/main">
              <a:ext uri="{FF2B5EF4-FFF2-40B4-BE49-F238E27FC236}">
                <a16:creationId xmlns:a16="http://schemas.microsoft.com/office/drawing/2014/main" id="{9316082B-0FE4-47A1-99DD-6D4B65F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8" name="Student  →  Mentor  →  Lab In-Charg">
            <a:extLst xmlns:a="http://schemas.openxmlformats.org/drawingml/2006/main">
              <a:ext uri="{FF2B5EF4-FFF2-40B4-BE49-F238E27FC236}">
                <a16:creationId xmlns:a16="http://schemas.microsoft.com/office/drawing/2014/main" id="{2240C2AF-514F-4BA7-9403-9651240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 →  Mentor  →  Lab In-Charge  →  HoD</a:t>
            </a:r>
          </a:p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→  Lab Assistant  →  Asset use / issue</a:t>
            </a:r>
          </a:p>
        </p:txBody>
      </p:sp>
    </p:spTree>
    <p:extLst>
      <p:ext uri="{BB962C8B-B14F-4D97-AF65-F5344CB8AC3E}">
        <p14:creationId xmlns:p14="http://schemas.microsoft.com/office/powerpoint/2010/main" val="1137499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JECT-BASED MANAGEMENT">
            <a:extLst xmlns:a="http://schemas.openxmlformats.org/drawingml/2006/main">
              <a:ext uri="{FF2B5EF4-FFF2-40B4-BE49-F238E27FC236}">
                <a16:creationId xmlns:a16="http://schemas.microsoft.com/office/drawing/2014/main" id="{CF4DF2D5-0458-4A48-AA20-9EDBCA8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PROJECT-BASED MANAGEMENT</a:t>
            </a:r>
          </a:p>
        </p:txBody>
      </p:sp>
      <p:sp>
        <p:nvSpPr>
          <p:cNvPr id="2" name="Hardware requests belong to a proje">
            <a:extLst xmlns:a="http://schemas.openxmlformats.org/drawingml/2006/main">
              <a:ext uri="{FF2B5EF4-FFF2-40B4-BE49-F238E27FC236}">
                <a16:creationId xmlns:a16="http://schemas.microsoft.com/office/drawing/2014/main" id="{D90FEA43-EE14-4BF5-8E2C-02D669D1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Hardware requests belong to a project.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135C28A2-EAFD-46B6-B444-46D00D18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CA81C056-BAD7-48DD-AF1E-EAF91AE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B191A-78D4-4BDD-BE34-90E4BD856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d7870cd704890"/>
          <a:stretch xmlns:a="http://schemas.openxmlformats.org/drawingml/2006/main"/>
        </p:blipFill>
        <p:spPr>
          <a:xfrm xmlns:a="http://schemas.openxmlformats.org/drawingml/2006/main">
            <a:off x="4586288" y="20193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11CB5D1D-D881-491E-BE24-3703A7E6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mmutable Project ID">
            <a:extLst xmlns:a="http://schemas.openxmlformats.org/drawingml/2006/main">
              <a:ext uri="{FF2B5EF4-FFF2-40B4-BE49-F238E27FC236}">
                <a16:creationId xmlns:a16="http://schemas.microsoft.com/office/drawing/2014/main" id="{36950422-5DF1-415D-9225-34BE10CF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383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Immutable Project ID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35EDEF39-A1CA-44F0-85BF-4F379C1F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udent lead and members">
            <a:extLst xmlns:a="http://schemas.openxmlformats.org/drawingml/2006/main">
              <a:ext uri="{FF2B5EF4-FFF2-40B4-BE49-F238E27FC236}">
                <a16:creationId xmlns:a16="http://schemas.microsoft.com/office/drawing/2014/main" id="{E1DDF4D4-92E8-4A86-B0C7-0FA3013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Student lead and members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2E0B76DC-A84F-43CB-B2E6-1D5B8E8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Assigned Faculty Mentor">
            <a:extLst xmlns:a="http://schemas.openxmlformats.org/drawingml/2006/main">
              <a:ext uri="{FF2B5EF4-FFF2-40B4-BE49-F238E27FC236}">
                <a16:creationId xmlns:a16="http://schemas.microsoft.com/office/drawing/2014/main" id="{C7BFB92E-4D9A-4C58-A257-AB0C63A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004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Assigned Faculty Mentor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1E3187D7-D18F-492F-8885-55CB7C3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Linked request history">
            <a:extLst xmlns:a="http://schemas.openxmlformats.org/drawingml/2006/main">
              <a:ext uri="{FF2B5EF4-FFF2-40B4-BE49-F238E27FC236}">
                <a16:creationId xmlns:a16="http://schemas.microsoft.com/office/drawing/2014/main" id="{314AA9DB-E5FE-4195-87DB-FF52588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815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Linked request history</a:t>
            </a:r>
          </a:p>
        </p:txBody>
      </p:sp>
    </p:spTree>
    <p:extLst>
      <p:ext uri="{BB962C8B-B14F-4D97-AF65-F5344CB8AC3E}">
        <p14:creationId xmlns:p14="http://schemas.microsoft.com/office/powerpoint/2010/main" val="2010846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NVENTORY MODEL">
            <a:extLst xmlns:a="http://schemas.openxmlformats.org/drawingml/2006/main">
              <a:ext uri="{FF2B5EF4-FFF2-40B4-BE49-F238E27FC236}">
                <a16:creationId xmlns:a16="http://schemas.microsoft.com/office/drawing/2014/main" id="{BE7D8BF9-E3B8-4DA2-AF0F-D402E78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INVENTORY MODEL</a:t>
            </a:r>
          </a:p>
        </p:txBody>
      </p:sp>
      <p:sp>
        <p:nvSpPr>
          <p:cNvPr id="2" name="Assets and Consumables are differen">
            <a:extLst xmlns:a="http://schemas.openxmlformats.org/drawingml/2006/main">
              <a:ext uri="{FF2B5EF4-FFF2-40B4-BE49-F238E27FC236}">
                <a16:creationId xmlns:a16="http://schemas.microsoft.com/office/drawing/2014/main" id="{5DD3F372-F68B-40E9-B6C3-4E13D1F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Assets and Consumables are different.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D1257733-1E73-4E79-9CDD-3A034B9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A5B4FA74-3500-4D9E-8ACC-C9BCBC9D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1CA3E-D355-48CA-8071-F09E8489269B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95775"/>
                <a:gridCol w="4295775"/>
              </a:tblGrid>
              <a:tr h="622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Concern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Assets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Consumables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SIT Barcode / physical unit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Catalogue type / per-lab quantity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Procurement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Default ID + shared Bill Number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Optional procurement metadata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Jetson Nano, Robotic Arm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Sensors, motors, batteries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Availability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Unit state and lab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Good quantity by lab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Return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Unit condition + functional test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Good / bad / missing quantities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Consumables are returnable. Active ">
            <a:extLst xmlns:a="http://schemas.openxmlformats.org/drawingml/2006/main">
              <a:ext uri="{FF2B5EF4-FFF2-40B4-BE49-F238E27FC236}">
                <a16:creationId xmlns:a16="http://schemas.microsoft.com/office/drawing/2014/main" id="{0BE8C2B4-EEB6-48F2-BDCF-F23601E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Consumables are returnable. Active physical lab stock = good + bad.</a:t>
            </a:r>
          </a:p>
        </p:txBody>
      </p:sp>
    </p:spTree>
    <p:extLst>
      <p:ext uri="{BB962C8B-B14F-4D97-AF65-F5344CB8AC3E}">
        <p14:creationId xmlns:p14="http://schemas.microsoft.com/office/powerpoint/2010/main" val="1698675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ILABILITY &amp; REQUESTS">
            <a:extLst xmlns:a="http://schemas.openxmlformats.org/drawingml/2006/main">
              <a:ext uri="{FF2B5EF4-FFF2-40B4-BE49-F238E27FC236}">
                <a16:creationId xmlns:a16="http://schemas.microsoft.com/office/drawing/2014/main" id="{B0A07F81-194B-4152-ABC3-09205E78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AVAILABILITY &amp; REQUESTS</a:t>
            </a:r>
          </a:p>
        </p:txBody>
      </p:sp>
      <p:sp>
        <p:nvSpPr>
          <p:cNvPr id="2" name="Check stock before submitting.">
            <a:extLst xmlns:a="http://schemas.openxmlformats.org/drawingml/2006/main">
              <a:ext uri="{FF2B5EF4-FFF2-40B4-BE49-F238E27FC236}">
                <a16:creationId xmlns:a16="http://schemas.microsoft.com/office/drawing/2014/main" id="{FD1BA848-35F2-4703-B7A1-E789BC31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Check stock before submitting.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83C1A7E3-3285-43C1-9351-C4A35FAB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DDD8D699-5B09-4E7F-BFE4-EB59653A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17DFF-32F0-47FC-9836-E56F7D766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cd08d63f24665"/>
          <a:srcRect xmlns:a="http://schemas.openxmlformats.org/drawingml/2006/main" l="16000" t="8000" r="0" b="22000"/>
          <a:stretch xmlns:a="http://schemas.openxmlformats.org/drawingml/2006/main"/>
        </p:blipFill>
        <p:spPr>
          <a:xfrm xmlns:a="http://schemas.openxmlformats.org/drawingml/2006/main">
            <a:off x="609600" y="1933575"/>
            <a:ext cx="109728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Current quantity and candidate labs">
            <a:extLst xmlns:a="http://schemas.openxmlformats.org/drawingml/2006/main">
              <a:ext uri="{FF2B5EF4-FFF2-40B4-BE49-F238E27FC236}">
                <a16:creationId xmlns:a16="http://schemas.microsoft.com/office/drawing/2014/main" id="{3F91FDB4-2A20-4776-99B0-00BCBFE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Current quantity and candidate labs are informative; issue-time revalidation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1934560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INIMUM-LAB FULFILMENT">
            <a:extLst xmlns:a="http://schemas.openxmlformats.org/drawingml/2006/main">
              <a:ext uri="{FF2B5EF4-FFF2-40B4-BE49-F238E27FC236}">
                <a16:creationId xmlns:a16="http://schemas.microsoft.com/office/drawing/2014/main" id="{F6DFE443-1696-448F-A5FE-27DE0E6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MINIMUM-LAB FULFILMENT</a:t>
            </a:r>
          </a:p>
        </p:txBody>
      </p:sp>
      <p:sp>
        <p:nvSpPr>
          <p:cNvPr id="2" name="Use the fewest feasible issuing lab">
            <a:extLst xmlns:a="http://schemas.openxmlformats.org/drawingml/2006/main">
              <a:ext uri="{FF2B5EF4-FFF2-40B4-BE49-F238E27FC236}">
                <a16:creationId xmlns:a16="http://schemas.microsoft.com/office/drawing/2014/main" id="{88C85DDB-7BA9-4B87-8A27-664208A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Use the fewest feasible issuing labs.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9413D9B9-8B8C-4F45-9279-FD81242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468E7091-380D-4CBB-8DF4-2B61BCB9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C2ED4-C7C1-4BA9-8AEC-C98163D40CEF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1990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571750"/>
                <a:gridCol w="1828800"/>
              </a:tblGrid>
              <a:tr h="663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Synthetic example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Robotics Lab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Automation Lab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HC-SR04 sensors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8 good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5 good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DC gear motors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 good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6 good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6" name="Automation Lab can supply both quan">
            <a:extLst xmlns:a="http://schemas.openxmlformats.org/drawingml/2006/main">
              <a:ext uri="{FF2B5EF4-FFF2-40B4-BE49-F238E27FC236}">
                <a16:creationId xmlns:a16="http://schemas.microsoft.com/office/drawing/2014/main" id="{3CA584C5-F3ED-4D5E-8723-55A761F5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Automation Lab can supply both quantities.</a:t>
            </a:r>
          </a:p>
          <a:p xmlns:a="http://schemas.openxmlformats.org/drawingml/2006/main">
            <a: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lab is sufficient; Robotics Lab alone is not.</a:t>
            </a:r>
          </a:p>
        </p:txBody>
      </p:sp>
      <p:sp>
        <p:nvSpPr>
          <p:cNvPr id="7" name="Objective order: lab count → stock ">
            <a:extLst xmlns:a="http://schemas.openxmlformats.org/drawingml/2006/main">
              <a:ext uri="{FF2B5EF4-FFF2-40B4-BE49-F238E27FC236}">
                <a16:creationId xmlns:a16="http://schemas.microsoft.com/office/drawing/2014/main" id="{0825F494-E323-4492-8D43-39AA098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Objective order: lab count → stock concentration → stable lab ID.</a:t>
            </a:r>
          </a:p>
        </p:txBody>
      </p:sp>
    </p:spTree>
    <p:extLst>
      <p:ext uri="{BB962C8B-B14F-4D97-AF65-F5344CB8AC3E}">
        <p14:creationId xmlns:p14="http://schemas.microsoft.com/office/powerpoint/2010/main" val="219008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YSICAL PROCESSING">
            <a:extLst xmlns:a="http://schemas.openxmlformats.org/drawingml/2006/main">
              <a:ext uri="{FF2B5EF4-FFF2-40B4-BE49-F238E27FC236}">
                <a16:creationId xmlns:a16="http://schemas.microsoft.com/office/drawing/2014/main" id="{C8EED1F6-E8B6-4B61-BB00-B7F3B8C3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PHYSICAL PROCESSING</a:t>
            </a:r>
          </a:p>
        </p:txBody>
      </p:sp>
      <p:sp>
        <p:nvSpPr>
          <p:cNvPr id="2" name="The full request commits together.">
            <a:extLst xmlns:a="http://schemas.openxmlformats.org/drawingml/2006/main">
              <a:ext uri="{FF2B5EF4-FFF2-40B4-BE49-F238E27FC236}">
                <a16:creationId xmlns:a16="http://schemas.microsoft.com/office/drawing/2014/main" id="{D25CE7FC-5BC6-426B-AEB9-897258F0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The full request commits together.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37EE641F-AF0D-453A-A241-7183EF26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DF779F27-F37A-4798-858D-1F71488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ALL LABS. ALL APPROVED LINES.">
            <a:extLst xmlns:a="http://schemas.openxmlformats.org/drawingml/2006/main">
              <a:ext uri="{FF2B5EF4-FFF2-40B4-BE49-F238E27FC236}">
                <a16:creationId xmlns:a16="http://schemas.microsoft.com/office/drawing/2014/main" id="{128F5EC3-8A3B-4D41-BAA8-ECA8D34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ALL LABS. ALL APPROVED LINES.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01F0E457-AD6B-4578-A632-77DE47D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ssistant claims and verifies the o">
            <a:extLst xmlns:a="http://schemas.openxmlformats.org/drawingml/2006/main">
              <a:ext uri="{FF2B5EF4-FFF2-40B4-BE49-F238E27FC236}">
                <a16:creationId xmlns:a16="http://schemas.microsoft.com/office/drawing/2014/main" id="{B6C8C7FD-8DA4-45CA-AB8E-7FDEB24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0512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Assistant claims and verifies the operational order.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36C03E8A-A5A2-4F3A-B536-19988D7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ckend locks and rechecks every st">
            <a:extLst xmlns:a="http://schemas.openxmlformats.org/drawingml/2006/main">
              <a:ext uri="{FF2B5EF4-FFF2-40B4-BE49-F238E27FC236}">
                <a16:creationId xmlns:a16="http://schemas.microsoft.com/office/drawing/2014/main" id="{792BD402-129E-4621-881C-CE79598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Backend locks and rechecks every stock row / asset.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10A7ECAF-083C-4B36-AAF4-E848C438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Inventory + issue + audit + outbox ">
            <a:extLst xmlns:a="http://schemas.openxmlformats.org/drawingml/2006/main">
              <a:ext uri="{FF2B5EF4-FFF2-40B4-BE49-F238E27FC236}">
                <a16:creationId xmlns:a16="http://schemas.microsoft.com/office/drawing/2014/main" id="{121069C4-507E-4413-9F78-61C40F5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Inventory + issue + audit + outbox commit atomically.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9489925A-6731-405E-AB79-27162CE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A shortage in any line prevents eve">
            <a:extLst xmlns:a="http://schemas.openxmlformats.org/drawingml/2006/main">
              <a:ext uri="{FF2B5EF4-FFF2-40B4-BE49-F238E27FC236}">
                <a16:creationId xmlns:a16="http://schemas.microsoft.com/office/drawing/2014/main" id="{6CC088A7-29F4-46F8-AE26-9F9A670B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 shortage in any line prevents every inventory mutation.</a:t>
            </a:r>
          </a:p>
        </p:txBody>
      </p:sp>
    </p:spTree>
    <p:extLst>
      <p:ext uri="{BB962C8B-B14F-4D97-AF65-F5344CB8AC3E}">
        <p14:creationId xmlns:p14="http://schemas.microsoft.com/office/powerpoint/2010/main" val="276965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UE DATES &amp; EXTENSIONS">
            <a:extLst xmlns:a="http://schemas.openxmlformats.org/drawingml/2006/main">
              <a:ext uri="{FF2B5EF4-FFF2-40B4-BE49-F238E27FC236}">
                <a16:creationId xmlns:a16="http://schemas.microsoft.com/office/drawing/2014/main" id="{90C02743-4BD2-47CC-ACEB-EA25F103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DUE DATES &amp; EXTENSIONS</a:t>
            </a:r>
          </a:p>
        </p:txBody>
      </p:sp>
      <p:sp>
        <p:nvSpPr>
          <p:cNvPr id="2" name="History stays intact when time chan">
            <a:extLst xmlns:a="http://schemas.openxmlformats.org/drawingml/2006/main">
              <a:ext uri="{FF2B5EF4-FFF2-40B4-BE49-F238E27FC236}">
                <a16:creationId xmlns:a16="http://schemas.microsoft.com/office/drawing/2014/main" id="{F8B29A6C-25C6-4074-B69F-6F6EFCAF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History stays intact when time changes.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B945C55D-9D40-4A84-A3D0-176C793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146E7672-6365-4939-967D-56CCB855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9664C-9D42-4EDA-9044-25435B2A2A9E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54428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Current execution status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Requested duration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Student input; due time starts at confirmed issue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Extension request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Original class-specific approval path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Pending extension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Current due date remains authoritative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Approved extension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New due-date version; previous date retained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Reminder policy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T−5 and daily overdue documented; calendar automation held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V1 configuration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 extensions; 48h collection; 24h reservation expiry value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3903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TURN &amp; INSPECTION">
            <a:extLst xmlns:a="http://schemas.openxmlformats.org/drawingml/2006/main">
              <a:ext uri="{FF2B5EF4-FFF2-40B4-BE49-F238E27FC236}">
                <a16:creationId xmlns:a16="http://schemas.microsoft.com/office/drawing/2014/main" id="{D595A23C-EF53-42B7-A501-2C63CB8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RETURN &amp; INSPECTION</a:t>
            </a:r>
          </a:p>
        </p:txBody>
      </p:sp>
      <p:sp>
        <p:nvSpPr>
          <p:cNvPr id="2" name="Close custody with physical evidenc">
            <a:extLst xmlns:a="http://schemas.openxmlformats.org/drawingml/2006/main">
              <a:ext uri="{FF2B5EF4-FFF2-40B4-BE49-F238E27FC236}">
                <a16:creationId xmlns:a16="http://schemas.microsoft.com/office/drawing/2014/main" id="{152A5889-47BF-4788-90C9-5B5B1AB7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Close custody with physical evidence.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F0A6777C-2223-4557-B04D-FB1144AD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6D6CF4DB-C151-48B1-A1CF-FD4C4A53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E4FD0-FA5B-4249-9C30-3B3516199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b2ad96e604691"/>
          <a:srcRect xmlns:a="http://schemas.openxmlformats.org/drawingml/2006/main" l="25000" t="9000" r="25000" b="14000"/>
          <a:stretch xmlns:a="http://schemas.openxmlformats.org/drawingml/2006/main"/>
        </p:blipFill>
        <p:spPr>
          <a:xfrm xmlns:a="http://schemas.openxmlformats.org/drawingml/2006/main">
            <a:off x="6457950" y="1714500"/>
            <a:ext cx="5124450" cy="4438650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2AE8C212-1A57-43C1-A133-77CB8884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spect every issued line.">
            <a:extLst xmlns:a="http://schemas.openxmlformats.org/drawingml/2006/main">
              <a:ext uri="{FF2B5EF4-FFF2-40B4-BE49-F238E27FC236}">
                <a16:creationId xmlns:a16="http://schemas.microsoft.com/office/drawing/2014/main" id="{AAC047CA-19F1-427E-A945-01480C11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Inspect every issued line.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AA727BD-C21C-4491-AD8F-C37028F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ord good, bad or missing quantit">
            <a:extLst xmlns:a="http://schemas.openxmlformats.org/drawingml/2006/main">
              <a:ext uri="{FF2B5EF4-FFF2-40B4-BE49-F238E27FC236}">
                <a16:creationId xmlns:a16="http://schemas.microsoft.com/office/drawing/2014/main" id="{FCC4519C-B487-41C6-ADB4-39AD33A6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Record good, bad or missing quantities.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A9BB60C7-AF77-4274-8E3C-B8CF9DDE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Verify each asset and its condition">
            <a:extLst xmlns:a="http://schemas.openxmlformats.org/drawingml/2006/main">
              <a:ext uri="{FF2B5EF4-FFF2-40B4-BE49-F238E27FC236}">
                <a16:creationId xmlns:a16="http://schemas.microsoft.com/office/drawing/2014/main" id="{7101ADA2-1139-4136-B1F3-65436D4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Verify each asset and its condition.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236A23B9-974A-4FD5-95FD-1EBB998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oncile stock and preserve the in">
            <a:extLst xmlns:a="http://schemas.openxmlformats.org/drawingml/2006/main">
              <a:ext uri="{FF2B5EF4-FFF2-40B4-BE49-F238E27FC236}">
                <a16:creationId xmlns:a16="http://schemas.microsoft.com/office/drawing/2014/main" id="{4ABF505C-119C-4EB2-9837-FF2D61A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Reconcile stock and preserve the incident record.</a:t>
            </a:r>
          </a:p>
        </p:txBody>
      </p:sp>
    </p:spTree>
    <p:extLst>
      <p:ext uri="{BB962C8B-B14F-4D97-AF65-F5344CB8AC3E}">
        <p14:creationId xmlns:p14="http://schemas.microsoft.com/office/powerpoint/2010/main" val="1644432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OUNTABILITY">
            <a:extLst xmlns:a="http://schemas.openxmlformats.org/drawingml/2006/main">
              <a:ext uri="{FF2B5EF4-FFF2-40B4-BE49-F238E27FC236}">
                <a16:creationId xmlns:a16="http://schemas.microsoft.com/office/drawing/2014/main" id="{D5F46C0C-6FED-4D17-B7EA-0E643BE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" name="Record the incident before assignin">
            <a:extLst xmlns:a="http://schemas.openxmlformats.org/drawingml/2006/main">
              <a:ext uri="{FF2B5EF4-FFF2-40B4-BE49-F238E27FC236}">
                <a16:creationId xmlns:a16="http://schemas.microsoft.com/office/drawing/2014/main" id="{68029A9D-9B8D-4A53-8627-5B6DD5D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Record the incident before assigning blame.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AC88D848-CEDE-4195-9936-FC95B3DD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BD3BB668-7BB7-4D01-9181-54513704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01D2763B-DFD4-4D89-B630-E1F6C354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nspection records link the item, p">
            <a:extLst xmlns:a="http://schemas.openxmlformats.org/drawingml/2006/main">
              <a:ext uri="{FF2B5EF4-FFF2-40B4-BE49-F238E27FC236}">
                <a16:creationId xmlns:a16="http://schemas.microsoft.com/office/drawing/2014/main" id="{29895D9C-35B9-4982-A99D-68A23AD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3360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Inspection records link the item, project and original issue.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06048DD0-08BD-40E8-9B16-4BB26EB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ondition history is preserved with">
            <a:extLst xmlns:a="http://schemas.openxmlformats.org/drawingml/2006/main">
              <a:ext uri="{FF2B5EF4-FFF2-40B4-BE49-F238E27FC236}">
                <a16:creationId xmlns:a16="http://schemas.microsoft.com/office/drawing/2014/main" id="{689A9D88-77A7-4D3F-B03A-E5CAF63A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Condition history is preserved without automatic student fault.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C8B8769A-0EB5-46C3-9F74-1B11A025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uthorized faculty can review relev">
            <a:extLst xmlns:a="http://schemas.openxmlformats.org/drawingml/2006/main">
              <a:ext uri="{FF2B5EF4-FFF2-40B4-BE49-F238E27FC236}">
                <a16:creationId xmlns:a16="http://schemas.microsoft.com/office/drawing/2014/main" id="{C7090E63-B619-4828-A9DB-CEE176D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Authorized faculty can review relevant incident records.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72B6B3A3-B2B5-4F2E-ABCE-EF924E21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No automatic fine, access block or ">
            <a:extLst xmlns:a="http://schemas.openxmlformats.org/drawingml/2006/main">
              <a:ext uri="{FF2B5EF4-FFF2-40B4-BE49-F238E27FC236}">
                <a16:creationId xmlns:a16="http://schemas.microsoft.com/office/drawing/2014/main" id="{9B38D02A-A7FD-4B95-A0F5-24B6C3B3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No automatic fine, access block or FIFO penalty is created.</a:t>
            </a:r>
          </a:p>
        </p:txBody>
      </p:sp>
      <p:sp>
        <p:nvSpPr>
          <p:cNvPr id="13" name="Numeric REPO / NLP and retention au">
            <a:extLst xmlns:a="http://schemas.openxmlformats.org/drawingml/2006/main">
              <a:ext uri="{FF2B5EF4-FFF2-40B4-BE49-F238E27FC236}">
                <a16:creationId xmlns:a16="http://schemas.microsoft.com/office/drawing/2014/main" id="{C2A9C03B-9A74-4C8D-AF9C-D9DC991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7A45"/>
                </a:solidFill>
                <a:latin typeface="Arial"/>
                <a:ea typeface="Arial"/>
                <a:cs typeface="Arial"/>
              </a:rPr>
              <a:t>Numeric REPO / NLP and retention authorization remain explicit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0513299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UDIT &amp; HISTORY">
            <a:extLst xmlns:a="http://schemas.openxmlformats.org/drawingml/2006/main">
              <a:ext uri="{FF2B5EF4-FFF2-40B4-BE49-F238E27FC236}">
                <a16:creationId xmlns:a16="http://schemas.microsoft.com/office/drawing/2014/main" id="{0008C9B3-9092-4D61-9369-DF84A34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AUDIT &amp; HISTORY</a:t>
            </a:r>
          </a:p>
        </p:txBody>
      </p:sp>
      <p:sp>
        <p:nvSpPr>
          <p:cNvPr id="2" name="Every decision remains traceable.">
            <a:extLst xmlns:a="http://schemas.openxmlformats.org/drawingml/2006/main">
              <a:ext uri="{FF2B5EF4-FFF2-40B4-BE49-F238E27FC236}">
                <a16:creationId xmlns:a16="http://schemas.microsoft.com/office/drawing/2014/main" id="{2649DCA3-CC04-471D-805F-A1CC57A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Every decision remains traceable.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6340436-0A44-4941-9D96-81FDE8C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63826FAE-BA77-4EE2-AC9E-BD434AC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A6126-0059-4456-ADAB-09FA5825BB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fdd0fd9da4f32"/>
          <a:srcRect xmlns:a="http://schemas.openxmlformats.org/drawingml/2006/main" l="16000" t="8000" r="0" b="4000"/>
          <a:stretch xmlns:a="http://schemas.openxmlformats.org/drawingml/2006/main"/>
        </p:blipFill>
        <p:spPr>
          <a:xfrm xmlns:a="http://schemas.openxmlformats.org/drawingml/2006/main">
            <a:off x="4762500" y="1971675"/>
            <a:ext cx="68199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Actor and timestamp&#10;Previous and ne">
            <a:extLst xmlns:a="http://schemas.openxmlformats.org/drawingml/2006/main">
              <a:ext uri="{FF2B5EF4-FFF2-40B4-BE49-F238E27FC236}">
                <a16:creationId xmlns:a16="http://schemas.microsoft.com/office/drawing/2014/main" id="{D54A5D2A-B0D3-4FD0-9AE6-6F02D4B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905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Actor and timestamp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Previous and new state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Approval remarks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Issue and return events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Due-date versions</a:t>
            </a:r>
          </a:p>
        </p:txBody>
      </p:sp>
      <p:sp>
        <p:nvSpPr>
          <p:cNvPr id="7" name="Raw audit records are append-only.">
            <a:extLst xmlns:a="http://schemas.openxmlformats.org/drawingml/2006/main">
              <a:ext uri="{FF2B5EF4-FFF2-40B4-BE49-F238E27FC236}">
                <a16:creationId xmlns:a16="http://schemas.microsoft.com/office/drawing/2014/main" id="{3691F327-9AB0-4CFF-AE08-E20177CB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Raw audit records are append-only.</a:t>
            </a:r>
          </a:p>
        </p:txBody>
      </p:sp>
    </p:spTree>
    <p:extLst>
      <p:ext uri="{BB962C8B-B14F-4D97-AF65-F5344CB8AC3E}">
        <p14:creationId xmlns:p14="http://schemas.microsoft.com/office/powerpoint/2010/main" val="986297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OTIFICATIONS &amp; UNMET DEMAND">
            <a:extLst xmlns:a="http://schemas.openxmlformats.org/drawingml/2006/main">
              <a:ext uri="{FF2B5EF4-FFF2-40B4-BE49-F238E27FC236}">
                <a16:creationId xmlns:a16="http://schemas.microsoft.com/office/drawing/2014/main" id="{B9334032-198C-44D3-88ED-93130D8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NOTIFICATIONS &amp; UNMET DEMAND</a:t>
            </a:r>
          </a:p>
        </p:txBody>
      </p:sp>
      <p:sp>
        <p:nvSpPr>
          <p:cNvPr id="2" name="One event, independent delivery cha">
            <a:extLst xmlns:a="http://schemas.openxmlformats.org/drawingml/2006/main">
              <a:ext uri="{FF2B5EF4-FFF2-40B4-BE49-F238E27FC236}">
                <a16:creationId xmlns:a16="http://schemas.microsoft.com/office/drawing/2014/main" id="{87EBB495-F5CA-4CE7-B1D8-BBB39368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event, independent delivery channels.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CA7FAE8C-1335-4FA3-8D19-4181405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EA05356C-5D4F-4717-B170-13ACDE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BD954-BC21-4EC3-B631-04A1E4701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ce3125b9a4a51"/>
          <a:srcRect xmlns:a="http://schemas.openxmlformats.org/drawingml/2006/main" l="16000" t="6000" r="0" b="4000"/>
          <a:stretch xmlns:a="http://schemas.openxmlformats.org/drawingml/2006/main"/>
        </p:blipFill>
        <p:spPr>
          <a:xfrm xmlns:a="http://schemas.openxmlformats.org/drawingml/2006/main">
            <a:off x="5000625" y="1952625"/>
            <a:ext cx="6581775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Domain transaction&#10;↓&#10;SQL outbox&#10;↓&#10;I">
            <a:extLst xmlns:a="http://schemas.openxmlformats.org/drawingml/2006/main">
              <a:ext uri="{FF2B5EF4-FFF2-40B4-BE49-F238E27FC236}">
                <a16:creationId xmlns:a16="http://schemas.microsoft.com/office/drawing/2014/main" id="{5C8628BB-0C52-4CF0-A1B4-7BD7D7B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95287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Domain transaction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SQL outbox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In-app + email delivery</a:t>
            </a:r>
          </a:p>
        </p:txBody>
      </p:sp>
      <p:sp>
        <p:nvSpPr>
          <p:cNvPr id="7" name="Local mail previews are working.&#10;Gm">
            <a:extLst xmlns:a="http://schemas.openxmlformats.org/drawingml/2006/main">
              <a:ext uri="{FF2B5EF4-FFF2-40B4-BE49-F238E27FC236}">
                <a16:creationId xmlns:a16="http://schemas.microsoft.com/office/drawing/2014/main" id="{450E7D8F-C3D7-4F05-80AE-B0D837B1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Local mail previews are working.</a:t>
            </a:r>
          </a:p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Gmail and Mongo require configured services.</a:t>
            </a:r>
          </a:p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Shortages feed demand analytics.</a:t>
            </a:r>
          </a:p>
        </p:txBody>
      </p:sp>
    </p:spTree>
    <p:extLst>
      <p:ext uri="{BB962C8B-B14F-4D97-AF65-F5344CB8AC3E}">
        <p14:creationId xmlns:p14="http://schemas.microsoft.com/office/powerpoint/2010/main" val="686433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CHNICAL ARCHITECTURE">
            <a:extLst xmlns:a="http://schemas.openxmlformats.org/drawingml/2006/main">
              <a:ext uri="{FF2B5EF4-FFF2-40B4-BE49-F238E27FC236}">
                <a16:creationId xmlns:a16="http://schemas.microsoft.com/office/drawing/2014/main" id="{0E51EA40-A415-4534-A572-1BE8E9D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Business truth has one owner.">
            <a:extLst xmlns:a="http://schemas.openxmlformats.org/drawingml/2006/main">
              <a:ext uri="{FF2B5EF4-FFF2-40B4-BE49-F238E27FC236}">
                <a16:creationId xmlns:a16="http://schemas.microsoft.com/office/drawing/2014/main" id="{58AB2508-86D9-4BCC-B578-6DB9D39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Business truth has one owner.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E24E95F6-5B5F-4706-B7DD-2E4D6E1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B5B2AB7D-06C6-4537-BB5F-1DF1AA4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0B540-6E25-436D-BFD0-043144A05695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286250"/>
                <a:gridCol w="4448175"/>
              </a:tblGrid>
              <a:tr h="603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Recorded direction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What ran in this session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React + Vite + TypeScript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Built client + browser lifecycle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FastAPI / Pydantic / OpenAPI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Authenticated API + generated types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Transactional data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MySQL 8.4 / SQLAlchemy / Alembic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SQLite local profile + migration checks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Documents / analytics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MongoDB projections / aggregations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Local adapter; Mongo artifacts prepared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Packaging / delivery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Docker / GitHub Actions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Configuration prepared; engine unavailable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AWS primary · Azure isolated stagin">
            <a:extLst xmlns:a="http://schemas.openxmlformats.org/drawingml/2006/main">
              <a:ext uri="{FF2B5EF4-FFF2-40B4-BE49-F238E27FC236}">
                <a16:creationId xmlns:a16="http://schemas.microsoft.com/office/drawing/2014/main" id="{62A46CDF-5313-4B73-8B98-4EE95B56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AWS primary · Azure isolated staging · GCP read-only — documented roles, no live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11677250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I-ASSISTED SUPPORT">
            <a:extLst xmlns:a="http://schemas.openxmlformats.org/drawingml/2006/main">
              <a:ext uri="{FF2B5EF4-FFF2-40B4-BE49-F238E27FC236}">
                <a16:creationId xmlns:a16="http://schemas.microsoft.com/office/drawing/2014/main" id="{2495F7B0-795A-4A15-8BC3-EA6800C1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AI-ASSISTED SUPPORT</a:t>
            </a:r>
          </a:p>
        </p:txBody>
      </p:sp>
      <p:sp>
        <p:nvSpPr>
          <p:cNvPr id="2" name="Advice stays behind inventory valid">
            <a:extLst xmlns:a="http://schemas.openxmlformats.org/drawingml/2006/main">
              <a:ext uri="{FF2B5EF4-FFF2-40B4-BE49-F238E27FC236}">
                <a16:creationId xmlns:a16="http://schemas.microsoft.com/office/drawing/2014/main" id="{4A305A1C-2C6C-4D83-8BC8-3A03359E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Advice stays behind inventory validation.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F74F3CDB-3313-4AB5-A9CE-27503EA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4F0A34B0-D1BB-45D8-A969-ABF2515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CD02617-A911-4492-AC1D-F59CCE1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urated alternatives are matched ag">
            <a:extLst xmlns:a="http://schemas.openxmlformats.org/drawingml/2006/main">
              <a:ext uri="{FF2B5EF4-FFF2-40B4-BE49-F238E27FC236}">
                <a16:creationId xmlns:a16="http://schemas.microsoft.com/office/drawing/2014/main" id="{DF047779-8FF6-48A2-91F5-ECD1051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Curated alternatives are matched against technical metadata.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1BEA139-9FE3-41DF-A89A-AF0AD609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urrent MySQL / local SQL stock is ">
            <a:extLst xmlns:a="http://schemas.openxmlformats.org/drawingml/2006/main">
              <a:ext uri="{FF2B5EF4-FFF2-40B4-BE49-F238E27FC236}">
                <a16:creationId xmlns:a16="http://schemas.microsoft.com/office/drawing/2014/main" id="{6FAF1D45-1745-48A9-BD61-082DD57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Current MySQL / local SQL stock is checked before display.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F024344-45AA-409E-A2E2-C4C915C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Optional AI may explain and rank th">
            <a:extLst xmlns:a="http://schemas.openxmlformats.org/drawingml/2006/main">
              <a:ext uri="{FF2B5EF4-FFF2-40B4-BE49-F238E27FC236}">
                <a16:creationId xmlns:a16="http://schemas.microsoft.com/office/drawing/2014/main" id="{290FD4EE-1D6D-4153-9639-FFDFF71C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Optional AI may explain and rank the allowed candidates.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63443368-68B4-480C-B0C1-4E492841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AI never approves, issues, changes ">
            <a:extLst xmlns:a="http://schemas.openxmlformats.org/drawingml/2006/main">
              <a:ext uri="{FF2B5EF4-FFF2-40B4-BE49-F238E27FC236}">
                <a16:creationId xmlns:a16="http://schemas.microsoft.com/office/drawing/2014/main" id="{B3A3E40D-2108-4AC0-B995-46C65BF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AI never approves, issues, changes stock or reorders FIFO.</a:t>
            </a:r>
          </a:p>
        </p:txBody>
      </p:sp>
      <p:sp>
        <p:nvSpPr>
          <p:cNvPr id="13" name="Implemented: deterministic catalogu">
            <a:extLst xmlns:a="http://schemas.openxmlformats.org/drawingml/2006/main">
              <a:ext uri="{FF2B5EF4-FFF2-40B4-BE49-F238E27FC236}">
                <a16:creationId xmlns:a16="http://schemas.microsoft.com/office/drawing/2014/main" id="{9E4C1DB3-D625-4532-AFC1-77E763C8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Implemented: deterministic catalogue alternatives.</a:t>
            </a:r>
          </a:p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External BrowserAPIFree / ChatGPT adapter remains unconnected.</a:t>
            </a:r>
          </a:p>
        </p:txBody>
      </p:sp>
    </p:spTree>
    <p:extLst>
      <p:ext uri="{BB962C8B-B14F-4D97-AF65-F5344CB8AC3E}">
        <p14:creationId xmlns:p14="http://schemas.microsoft.com/office/powerpoint/2010/main" val="126888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ADEMIC RELEVANCE">
            <a:extLst xmlns:a="http://schemas.openxmlformats.org/drawingml/2006/main">
              <a:ext uri="{FF2B5EF4-FFF2-40B4-BE49-F238E27FC236}">
                <a16:creationId xmlns:a16="http://schemas.microsoft.com/office/drawing/2014/main" id="{4A3715D5-E0B7-4C8F-B8A9-5F294B1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ACADEMIC RELEVANCE</a:t>
            </a:r>
          </a:p>
        </p:txBody>
      </p:sp>
      <p:sp>
        <p:nvSpPr>
          <p:cNvPr id="2" name="A running application supports the ">
            <a:extLst xmlns:a="http://schemas.openxmlformats.org/drawingml/2006/main">
              <a:ext uri="{FF2B5EF4-FFF2-40B4-BE49-F238E27FC236}">
                <a16:creationId xmlns:a16="http://schemas.microsoft.com/office/drawing/2014/main" id="{CACE0C1F-8484-4090-9819-907CE70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 running application supports the rubric.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2F5B8555-524C-4E3F-93E4-0575EDB0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DE9C3C5C-D450-421A-A0A2-F5E23A6F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82238-55F1-4680-BC50-B8297EC3BF9B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381750"/>
                <a:gridCol w="1257300"/>
              </a:tblGrid>
              <a:tr h="5826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DCDS criterion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Evidence prepared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Marks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Design + functionality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Project-based lifecycle and role boundaries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Python implementation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Modular API/services, validation, file handling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 + NoSQL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MySQL/Mongo artifacts; local runtime disclosed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Advanced querying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Joins/grouping, stored routine, Mongo aggregation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Code / docs + testing / security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Execution docs, contracts, race/negative tests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1 + 1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CCE: topic 5 · research 5 · present">
            <a:extLst xmlns:a="http://schemas.openxmlformats.org/drawingml/2006/main">
              <a:ext uri="{FF2B5EF4-FFF2-40B4-BE49-F238E27FC236}">
                <a16:creationId xmlns:a16="http://schemas.microsoft.com/office/drawing/2014/main" id="{23497D9F-7576-4B44-9272-FD07EB0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CCE: topic 5 · research 5 · presentation 5 · running example 10 · viva 5</a:t>
            </a:r>
          </a:p>
        </p:txBody>
      </p:sp>
    </p:spTree>
    <p:extLst>
      <p:ext uri="{BB962C8B-B14F-4D97-AF65-F5344CB8AC3E}">
        <p14:creationId xmlns:p14="http://schemas.microsoft.com/office/powerpoint/2010/main" val="6237116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UNNING EXAMPLE">
            <a:extLst xmlns:a="http://schemas.openxmlformats.org/drawingml/2006/main">
              <a:ext uri="{FF2B5EF4-FFF2-40B4-BE49-F238E27FC236}">
                <a16:creationId xmlns:a16="http://schemas.microsoft.com/office/drawing/2014/main" id="{ADCDCCB5-0A55-48BF-82D7-EF91195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2" name="Autonomous rover: request to return">
            <a:extLst xmlns:a="http://schemas.openxmlformats.org/drawingml/2006/main">
              <a:ext uri="{FF2B5EF4-FFF2-40B4-BE49-F238E27FC236}">
                <a16:creationId xmlns:a16="http://schemas.microsoft.com/office/drawing/2014/main" id="{600FAAEB-2072-4ADD-BA8A-561380D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Autonomous rover: request to return.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ED844DDF-58D1-4F36-BC82-1410FBB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2ACE7DA2-1445-43C8-BCF2-591DEB20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122DB9D-B2C4-4FBC-8370-0A1F41A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udent creates project, selects me">
            <a:extLst xmlns:a="http://schemas.openxmlformats.org/drawingml/2006/main">
              <a:ext uri="{FF2B5EF4-FFF2-40B4-BE49-F238E27FC236}">
                <a16:creationId xmlns:a16="http://schemas.microsoft.com/office/drawing/2014/main" id="{B00C8D5A-CC3C-46EA-81D9-AD31B95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creates project, selects mentor and enters components.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C19FA34-8181-4769-9EEC-27E193F6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Mentor → class-specific stage → HoD">
            <a:extLst xmlns:a="http://schemas.openxmlformats.org/drawingml/2006/main">
              <a:ext uri="{FF2B5EF4-FFF2-40B4-BE49-F238E27FC236}">
                <a16:creationId xmlns:a16="http://schemas.microsoft.com/office/drawing/2014/main" id="{F8EB5760-1B02-49F5-90D2-E0BF5EF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Mentor → class-specific stage → HoD approval.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D0CA69A7-C492-4C4D-AF8E-F1179BC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ssistant claims, verifies and conf">
            <a:extLst xmlns:a="http://schemas.openxmlformats.org/drawingml/2006/main">
              <a:ext uri="{FF2B5EF4-FFF2-40B4-BE49-F238E27FC236}">
                <a16:creationId xmlns:a16="http://schemas.microsoft.com/office/drawing/2014/main" id="{5AD4306A-1A0F-4A47-8083-CF429978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Assistant claims, verifies and confirms full issue.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2CC335B8-2893-4F05-8B99-4E519E6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Extension preserves due-date histor">
            <a:extLst xmlns:a="http://schemas.openxmlformats.org/drawingml/2006/main">
              <a:ext uri="{FF2B5EF4-FFF2-40B4-BE49-F238E27FC236}">
                <a16:creationId xmlns:a16="http://schemas.microsoft.com/office/drawing/2014/main" id="{4F7AEDF1-855C-466D-8862-D388C88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Extension preserves due-date history; return closes custody.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D965DB0A-E980-43BB-8C5E-141CD2B7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Unavailable LiDAR demonstrates FIFO">
            <a:extLst xmlns:a="http://schemas.openxmlformats.org/drawingml/2006/main">
              <a:ext uri="{FF2B5EF4-FFF2-40B4-BE49-F238E27FC236}">
                <a16:creationId xmlns:a16="http://schemas.microsoft.com/office/drawing/2014/main" id="{A15E85BE-865A-4B30-83B5-0B9633F4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Unavailable LiDAR demonstrates FIFO enrollment and demand.</a:t>
            </a:r>
          </a:p>
        </p:txBody>
      </p:sp>
    </p:spTree>
    <p:extLst>
      <p:ext uri="{BB962C8B-B14F-4D97-AF65-F5344CB8AC3E}">
        <p14:creationId xmlns:p14="http://schemas.microsoft.com/office/powerpoint/2010/main" val="8491963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IES &amp; FUTURE SCOPE">
            <a:extLst xmlns:a="http://schemas.openxmlformats.org/drawingml/2006/main">
              <a:ext uri="{FF2B5EF4-FFF2-40B4-BE49-F238E27FC236}">
                <a16:creationId xmlns:a16="http://schemas.microsoft.com/office/drawing/2014/main" id="{EF383444-E340-4E6E-8536-D9588003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BOUNDARIES &amp; FUTURE SCOPE</a:t>
            </a:r>
          </a:p>
        </p:txBody>
      </p:sp>
      <p:sp>
        <p:nvSpPr>
          <p:cNvPr id="2" name="Finish the policy before expanding ">
            <a:extLst xmlns:a="http://schemas.openxmlformats.org/drawingml/2006/main">
              <a:ext uri="{FF2B5EF4-FFF2-40B4-BE49-F238E27FC236}">
                <a16:creationId xmlns:a16="http://schemas.microsoft.com/office/drawing/2014/main" id="{76B2390C-165B-414B-A137-FF81C6E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Finish the policy before expanding automation.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C8ACB787-4571-4926-B3FF-D32A152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6F28663B-E987-418E-B35D-63E2E0D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B2E27-94DA-41BC-8F4B-9401155D6C9D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7912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Needs department decision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Future / institutional integration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Reservation holds and pickup progression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Institutional authentication and master data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Calendar catch-up and late extensions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College-managed infrastructure / cloud approval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Retention approval and staged returns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 transfers / cross-department governance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REPO score, attribution and optional NLP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Mobile / Play Store, procurement and payments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6" name="The working prototype continues ind">
            <a:extLst xmlns:a="http://schemas.openxmlformats.org/drawingml/2006/main">
              <a:ext uri="{FF2B5EF4-FFF2-40B4-BE49-F238E27FC236}">
                <a16:creationId xmlns:a16="http://schemas.microsoft.com/office/drawing/2014/main" id="{3FC1132C-9BDB-4E0F-86F2-08E5240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working prototype continues independently at every defined boundary.</a:t>
            </a:r>
          </a:p>
        </p:txBody>
      </p:sp>
    </p:spTree>
    <p:extLst>
      <p:ext uri="{BB962C8B-B14F-4D97-AF65-F5344CB8AC3E}">
        <p14:creationId xmlns:p14="http://schemas.microsoft.com/office/powerpoint/2010/main" val="10531482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TRACK · QUESTIONS &amp; DEMONSTRATIO">
            <a:extLst xmlns:a="http://schemas.openxmlformats.org/drawingml/2006/main">
              <a:ext uri="{FF2B5EF4-FFF2-40B4-BE49-F238E27FC236}">
                <a16:creationId xmlns:a16="http://schemas.microsoft.com/office/drawing/2014/main" id="{DD47FA47-5EB6-44A3-A1FC-7536174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LABTRACK · QUESTIONS &amp; DEMONSTRATION</a:t>
            </a:r>
          </a:p>
        </p:txBody>
      </p:sp>
      <p:sp>
        <p:nvSpPr>
          <p:cNvPr id="2" name="A project record you can follow.">
            <a:extLst xmlns:a="http://schemas.openxmlformats.org/drawingml/2006/main">
              <a:ext uri="{FF2B5EF4-FFF2-40B4-BE49-F238E27FC236}">
                <a16:creationId xmlns:a16="http://schemas.microsoft.com/office/drawing/2014/main" id="{1798A4C8-EDE7-4645-A4B9-722A93B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 project record you can follow.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0C78D3FC-6F62-4237-A291-04344EBF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15268C4C-C390-4662-98E7-7F01DA9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rom the component requirement&#10;to t">
            <a:extLst xmlns:a="http://schemas.openxmlformats.org/drawingml/2006/main">
              <a:ext uri="{FF2B5EF4-FFF2-40B4-BE49-F238E27FC236}">
                <a16:creationId xmlns:a16="http://schemas.microsoft.com/office/drawing/2014/main" id="{F0B25341-2E7A-4C3F-9F54-1D9AB2D0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763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From the component requirement</a:t>
            </a:r>
          </a:p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to the physical handover</a:t>
            </a:r>
          </a:p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to the complete return history.</a:t>
            </a:r>
          </a:p>
        </p:txBody>
      </p:sp>
      <p:sp>
        <p:nvSpPr>
          <p:cNvPr id="6" name="Open the running prototype.&#10;Trace o">
            <a:extLst xmlns:a="http://schemas.openxmlformats.org/drawingml/2006/main">
              <a:ext uri="{FF2B5EF4-FFF2-40B4-BE49-F238E27FC236}">
                <a16:creationId xmlns:a16="http://schemas.microsoft.com/office/drawing/2014/main" id="{AE826850-716A-449C-BFA3-C59CD12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Open the running prototype.</a:t>
            </a:r>
          </a:p>
          <a:p xmlns:a="http://schemas.openxmlformats.org/drawingml/2006/main">
            <a: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Trace one request together.</a:t>
            </a:r>
          </a:p>
        </p:txBody>
      </p:sp>
    </p:spTree>
    <p:extLst>
      <p:ext uri="{BB962C8B-B14F-4D97-AF65-F5344CB8AC3E}">
        <p14:creationId xmlns:p14="http://schemas.microsoft.com/office/powerpoint/2010/main" val="1799302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2026-10-15T18:22:04.5750000Z</dcterms:created>
  <dcterms:modified xsi:type="dcterms:W3CDTF">2026-10-15T18:22:04.5750000Z</dcterms:modified>
</coreProperties>
</file>