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fd81cd1844102" /><Relationship Type="http://schemas.openxmlformats.org/officeDocument/2006/relationships/extended-properties" Target="/docProps/app.xml" Id="R4bd0ef91270e48cd" /><Relationship Type="http://schemas.openxmlformats.org/officeDocument/2006/relationships/officeDocument" Target="/ppt/presentation.xml" Id="R47e7642c06b5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94294b1da4568"/>
  </p:sldMasterIdLst>
  <p:notesMasterIdLst>
    <p:notesMasterId xmlns:r="http://schemas.openxmlformats.org/officeDocument/2006/relationships" r:id="R5c6c6071b3624647"/>
  </p:notesMasterIdLst>
  <p:sldIdLst>
    <p:sldId xmlns:r="http://schemas.openxmlformats.org/officeDocument/2006/relationships" id="256" r:id="R9b3e1d1dbc4b4d22"/>
    <p:sldId xmlns:r="http://schemas.openxmlformats.org/officeDocument/2006/relationships" id="257" r:id="R2e9bb641b7994cd1"/>
    <p:sldId xmlns:r="http://schemas.openxmlformats.org/officeDocument/2006/relationships" id="258" r:id="Rb611dddb476b4400"/>
    <p:sldId xmlns:r="http://schemas.openxmlformats.org/officeDocument/2006/relationships" id="259" r:id="Rf950c690dbf14fd1"/>
    <p:sldId xmlns:r="http://schemas.openxmlformats.org/officeDocument/2006/relationships" id="260" r:id="Rc209c1babe8b4b81"/>
    <p:sldId xmlns:r="http://schemas.openxmlformats.org/officeDocument/2006/relationships" id="261" r:id="R34472f7fb1bf4903"/>
    <p:sldId xmlns:r="http://schemas.openxmlformats.org/officeDocument/2006/relationships" id="262" r:id="Racf31d0f720541e1"/>
    <p:sldId xmlns:r="http://schemas.openxmlformats.org/officeDocument/2006/relationships" id="263" r:id="R1151e4a4477744a2"/>
    <p:sldId xmlns:r="http://schemas.openxmlformats.org/officeDocument/2006/relationships" id="264" r:id="R13dd78a5c0e7472c"/>
    <p:sldId xmlns:r="http://schemas.openxmlformats.org/officeDocument/2006/relationships" id="265" r:id="Rf445a70421574e11"/>
    <p:sldId xmlns:r="http://schemas.openxmlformats.org/officeDocument/2006/relationships" id="266" r:id="Rf5e8d5441e6d4afd"/>
    <p:sldId xmlns:r="http://schemas.openxmlformats.org/officeDocument/2006/relationships" id="267" r:id="Rd10ae01ddea844a9"/>
    <p:sldId xmlns:r="http://schemas.openxmlformats.org/officeDocument/2006/relationships" id="268" r:id="Ra38a0d42026a4c7a"/>
    <p:sldId xmlns:r="http://schemas.openxmlformats.org/officeDocument/2006/relationships" id="269" r:id="R2748892105a34efc"/>
    <p:sldId xmlns:r="http://schemas.openxmlformats.org/officeDocument/2006/relationships" id="270" r:id="Re65163900aa24aa1"/>
    <p:sldId xmlns:r="http://schemas.openxmlformats.org/officeDocument/2006/relationships" id="271" r:id="R9a4958586d284a22"/>
    <p:sldId xmlns:r="http://schemas.openxmlformats.org/officeDocument/2006/relationships" id="272" r:id="R272507e513094fbe"/>
    <p:sldId xmlns:r="http://schemas.openxmlformats.org/officeDocument/2006/relationships" id="273" r:id="Re89ffaf860044490"/>
    <p:sldId xmlns:r="http://schemas.openxmlformats.org/officeDocument/2006/relationships" id="274" r:id="Rc195ee5858b3456c"/>
    <p:sldId xmlns:r="http://schemas.openxmlformats.org/officeDocument/2006/relationships" id="275" r:id="R1efe6e1e9252468b"/>
    <p:sldId xmlns:r="http://schemas.openxmlformats.org/officeDocument/2006/relationships" id="276" r:id="Rb91eb6ffb0a34758"/>
    <p:sldId xmlns:r="http://schemas.openxmlformats.org/officeDocument/2006/relationships" id="277" r:id="Rdc76a32f688747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3592b75a64718" /><Relationship Type="http://schemas.openxmlformats.org/officeDocument/2006/relationships/slideMaster" Target="/ppt/slideMasters/slideMaster1.xml" Id="R83094294b1da4568" /><Relationship Type="http://schemas.openxmlformats.org/officeDocument/2006/relationships/notesMaster" Target="/ppt/notesMasters/notesMaster1.xml" Id="R5c6c6071b3624647" /><Relationship Type="http://schemas.openxmlformats.org/officeDocument/2006/relationships/presProps" Target="/ppt/presProps.xml" Id="R27b439694e1e4b86" /><Relationship Type="http://schemas.openxmlformats.org/officeDocument/2006/relationships/tableStyles" Target="/ppt/tableStyles.xml" Id="R0157325417de4f40" /><Relationship Type="http://schemas.openxmlformats.org/officeDocument/2006/relationships/slide" Target="/ppt/slides/slide1.xml" Id="R9b3e1d1dbc4b4d22" /><Relationship Type="http://schemas.openxmlformats.org/officeDocument/2006/relationships/slide" Target="/ppt/slides/slide2.xml" Id="R2e9bb641b7994cd1" /><Relationship Type="http://schemas.openxmlformats.org/officeDocument/2006/relationships/slide" Target="/ppt/slides/slide3.xml" Id="Rb611dddb476b4400" /><Relationship Type="http://schemas.openxmlformats.org/officeDocument/2006/relationships/slide" Target="/ppt/slides/slide4.xml" Id="Rf950c690dbf14fd1" /><Relationship Type="http://schemas.openxmlformats.org/officeDocument/2006/relationships/slide" Target="/ppt/slides/slide5.xml" Id="Rc209c1babe8b4b81" /><Relationship Type="http://schemas.openxmlformats.org/officeDocument/2006/relationships/slide" Target="/ppt/slides/slide6.xml" Id="R34472f7fb1bf4903" /><Relationship Type="http://schemas.openxmlformats.org/officeDocument/2006/relationships/slide" Target="/ppt/slides/slide7.xml" Id="Racf31d0f720541e1" /><Relationship Type="http://schemas.openxmlformats.org/officeDocument/2006/relationships/slide" Target="/ppt/slides/slide8.xml" Id="R1151e4a4477744a2" /><Relationship Type="http://schemas.openxmlformats.org/officeDocument/2006/relationships/slide" Target="/ppt/slides/slide9.xml" Id="R13dd78a5c0e7472c" /><Relationship Type="http://schemas.openxmlformats.org/officeDocument/2006/relationships/slide" Target="/ppt/slides/slide10.xml" Id="Rf445a70421574e11" /><Relationship Type="http://schemas.openxmlformats.org/officeDocument/2006/relationships/slide" Target="/ppt/slides/slide11.xml" Id="Rf5e8d5441e6d4afd" /><Relationship Type="http://schemas.openxmlformats.org/officeDocument/2006/relationships/slide" Target="/ppt/slides/slide12.xml" Id="Rd10ae01ddea844a9" /><Relationship Type="http://schemas.openxmlformats.org/officeDocument/2006/relationships/slide" Target="/ppt/slides/slide13.xml" Id="Ra38a0d42026a4c7a" /><Relationship Type="http://schemas.openxmlformats.org/officeDocument/2006/relationships/slide" Target="/ppt/slides/slide14.xml" Id="R2748892105a34efc" /><Relationship Type="http://schemas.openxmlformats.org/officeDocument/2006/relationships/slide" Target="/ppt/slides/slide15.xml" Id="Re65163900aa24aa1" /><Relationship Type="http://schemas.openxmlformats.org/officeDocument/2006/relationships/slide" Target="/ppt/slides/slide16.xml" Id="R9a4958586d284a22" /><Relationship Type="http://schemas.openxmlformats.org/officeDocument/2006/relationships/slide" Target="/ppt/slides/slide17.xml" Id="R272507e513094fbe" /><Relationship Type="http://schemas.openxmlformats.org/officeDocument/2006/relationships/slide" Target="/ppt/slides/slide18.xml" Id="Re89ffaf860044490" /><Relationship Type="http://schemas.openxmlformats.org/officeDocument/2006/relationships/slide" Target="/ppt/slides/slide19.xml" Id="Rc195ee5858b3456c" /><Relationship Type="http://schemas.openxmlformats.org/officeDocument/2006/relationships/slide" Target="/ppt/slides/slide20.xml" Id="R1efe6e1e9252468b" /><Relationship Type="http://schemas.openxmlformats.org/officeDocument/2006/relationships/slide" Target="/ppt/slides/slide21.xml" Id="Rb91eb6ffb0a34758" /><Relationship Type="http://schemas.openxmlformats.org/officeDocument/2006/relationships/slide" Target="/ppt/slides/slide22.xml" Id="Rdc76a32f688747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1b38fccd2b43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4e916e15440cf" /><Relationship Type="http://schemas.openxmlformats.org/officeDocument/2006/relationships/notesMaster" Target="/ppt/notesMasters/notesMaster1.xml" Id="Rf6e25eafdf48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5e143ac1664905" /><Relationship Type="http://schemas.openxmlformats.org/officeDocument/2006/relationships/notesMaster" Target="/ppt/notesMasters/notesMaster1.xml" Id="R954792e0b5bf45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da34346d4a4a93" /><Relationship Type="http://schemas.openxmlformats.org/officeDocument/2006/relationships/notesMaster" Target="/ppt/notesMasters/notesMaster1.xml" Id="R59a73e337b4e45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80e2e188248e7" /><Relationship Type="http://schemas.openxmlformats.org/officeDocument/2006/relationships/notesMaster" Target="/ppt/notesMasters/notesMaster1.xml" Id="R9760e9f4186b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12829ca68a497a" /><Relationship Type="http://schemas.openxmlformats.org/officeDocument/2006/relationships/notesMaster" Target="/ppt/notesMasters/notesMaster1.xml" Id="R8b157c487a16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279415ef4c4a02" /><Relationship Type="http://schemas.openxmlformats.org/officeDocument/2006/relationships/notesMaster" Target="/ppt/notesMasters/notesMaster1.xml" Id="Rd0a42325c62c41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aa8aefdeb43b5" /><Relationship Type="http://schemas.openxmlformats.org/officeDocument/2006/relationships/notesMaster" Target="/ppt/notesMasters/notesMaster1.xml" Id="R493dcebc9f9e4f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f10cb600394e40" /><Relationship Type="http://schemas.openxmlformats.org/officeDocument/2006/relationships/notesMaster" Target="/ppt/notesMasters/notesMaster1.xml" Id="R33013ec84cf948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673eb62f7644fb" /><Relationship Type="http://schemas.openxmlformats.org/officeDocument/2006/relationships/notesMaster" Target="/ppt/notesMasters/notesMaster1.xml" Id="R71b954ea2b284f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0d5c4ab2f74e02" /><Relationship Type="http://schemas.openxmlformats.org/officeDocument/2006/relationships/notesMaster" Target="/ppt/notesMasters/notesMaster1.xml" Id="Rafe92436d96440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ea51e109a84bd2" /><Relationship Type="http://schemas.openxmlformats.org/officeDocument/2006/relationships/notesMaster" Target="/ppt/notesMasters/notesMaster1.xml" Id="Rb8ba12675d954c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1c9da6129f401f" /><Relationship Type="http://schemas.openxmlformats.org/officeDocument/2006/relationships/notesMaster" Target="/ppt/notesMasters/notesMaster1.xml" Id="R8cb66d8ffffb4d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30a991ba6f4f9b" /><Relationship Type="http://schemas.openxmlformats.org/officeDocument/2006/relationships/notesMaster" Target="/ppt/notesMasters/notesMaster1.xml" Id="R66c3f611162944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03d00a331a4910" /><Relationship Type="http://schemas.openxmlformats.org/officeDocument/2006/relationships/notesMaster" Target="/ppt/notesMasters/notesMaster1.xml" Id="R9804654814ee4e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11d97f44994e96" /><Relationship Type="http://schemas.openxmlformats.org/officeDocument/2006/relationships/notesMaster" Target="/ppt/notesMasters/notesMaster1.xml" Id="Re2f532c41ba344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589f2ae6724819" /><Relationship Type="http://schemas.openxmlformats.org/officeDocument/2006/relationships/notesMaster" Target="/ppt/notesMasters/notesMaster1.xml" Id="Ra08982ce9f014a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9ae9c9b42d4859" /><Relationship Type="http://schemas.openxmlformats.org/officeDocument/2006/relationships/notesMaster" Target="/ppt/notesMasters/notesMaster1.xml" Id="R17b8f95174f74a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63ae9f67ef4be3" /><Relationship Type="http://schemas.openxmlformats.org/officeDocument/2006/relationships/notesMaster" Target="/ppt/notesMasters/notesMaster1.xml" Id="R9503cb0d130547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454f5c786b4a1e" /><Relationship Type="http://schemas.openxmlformats.org/officeDocument/2006/relationships/notesMaster" Target="/ppt/notesMasters/notesMaster1.xml" Id="Rad44c0e7b5d947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b84f35a29b4e3e" /><Relationship Type="http://schemas.openxmlformats.org/officeDocument/2006/relationships/notesMaster" Target="/ppt/notesMasters/notesMaster1.xml" Id="Ra5f3038db94d43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908af905d24ba3" /><Relationship Type="http://schemas.openxmlformats.org/officeDocument/2006/relationships/notesMaster" Target="/ppt/notesMasters/notesMaster1.xml" Id="R24304a986fed4c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16ac8f7ce648b6" /><Relationship Type="http://schemas.openxmlformats.org/officeDocument/2006/relationships/notesMaster" Target="/ppt/notesMasters/notesMaster1.xml" Id="Rac48bf551f7f4c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unified R&amp;A project. The screenshots show the implemented local prototype, not a deployed institutional system. No SDD is being presented.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docs/EXECUTION_PLAN.md; docs/LabTrack_MASTER_CONTEXT.md A/D/AL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project team’s documented observations. Do not claim independently measured time savings or error 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B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show existing patterns; no claim of absent competitor features or first-of-kind novelty. Snipe-IT: https://snipe-it.readme.io/docs/overview ; GLPI: https://help.glpi-project.org/documentation/modules/tools/reservations ; AWS: https://docs.aws.amazon.com/prescriptive-guidance/latest/cloud-design-patterns/transactional-outbox.html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docs/RESEARCH_REFERENCES.md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running app and distinguish it from historical pitch material. Overview values are actual synthetic records, not real departmental performance statistics.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src/frontend/src/main.tsx; .artifacts/demo-evidence.json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Central Store is a system/inventory-management stage, not a separate user role. General HoD overwrite, discretionary reordering and administrative stock changes remain policy-bounded; the app does not expose an unrestricted editor.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E/O/UAQ23–25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single-class routes are executable. Mixed-class approvals and multiple asset In-Charges remain open. Email links to the website; it does not authorize approval. Normal HoD stage cannot be skipped.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L/O; src/backend/labtrack/service.py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UI creates a synthetic project with a sequential PROJ identifier. Post-submission editing, lead transfer and custody-affecting membership changes are held at the open business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PART A3/F/UAQ23; src/backend/labtrack/models.py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 retain individual history. A bill may cover multiple physical units. Consumables are not forced into per-unit identity and are not defined as disposable.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G/H/W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shows the implemented catalogue, class filters and lab detail controls. Out-of-stock items can be enrolled in FIFO or recorded as demand. Reservation pickup/holds are not represented as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J/K/L1; src/frontend/src/main.tsx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quantities are synthetic fixture values. Exact subset search is practical at the documented prototype scale. Plans do not reserve stock. Allocation within the selected set is deterministic; no automatic replan occurs after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fixtures/demo.json; docs/LabTrack_MASTER_CONTEXT.md I1; tests/test_workflows.py::test_plan_optimizes_labs_and_does_not_mutate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confirmed “Entire request across all labs” on 2026-10-15. Race tests validate the software boundary. Actual physical handover must be confirmed together; multi-operator coordination remains open and is not solved by a SQL transaction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docs/ASTRA/EXECUTION_AUTHORIZATION.md; tests/test_workflows.py::test_whole_request_shortage_never_partially_mutates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describe an active automatic reminder service. Calendar boundaries, catch-up semantics and overdue extensions remain OD-11. Reservation fulfilment/hold rules remain OD-04, independent of the configured expiry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R/S/T/U/V; docs/EXECUTION_DECISIONS.md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Damaged/defective asset inspection requires a photo; upload uses a replaceable storage boundary. Full ordinary returns are executable. Staged/cross-lab returns, repair authority and retained-project approval remain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W; tests/test_workflows.py::test_asset_damage_requires_evidence_and_no_auto_blame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 score has contradictory scope statements in the supplied context. This presentation does not announce it as implemented. Normal wear cannot automatically be treated as misconduct. Retained-in-project no-second-decrement rule is preserved as a guardrail, but the action awaits an authorized acceptance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docs/ASTRA/05_OPEN_DECISIONS.md OD-13/16; docs/LabTrack_MASTER_CONTEXT.md X/Y/Z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 is from the browser-validated asset lifecycle. Audit is in SQL with domain state and outbox; Mongo receives non-authoritative projections. No silent historical overwrite endpoint is provided.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src/backend/labtrack/models.py Audit; src/backend/labtrack/service.py; .artifacts/browser/browser-evidence.json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Outbox replay tests validate independent local channel recovery and deduplication. A failed channel does not reverse domain state. External Gmail ambiguous sends require operator review; exactly-once email is not claimed. Central Store is not a new application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AA/AB; src/backend/labtrack/worker.py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profile is explicitly distinct from MySQL/Mongo integration. Docker Desktop engine was unavailable; container builds and cloud service behavior were not verified. No institutional production rollout or DR readiness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AK/AF/BL; docs/RUN_GUIDE.md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is not the product authority or the main project identity. Metadata compatibility filtering is intentionally conservative; advice is not a guarantee of electrical/mechanical suitability. No external AI service was exercised.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docs/LabTrack_MASTER_CONTEXT.md M/N; src/backend/labtrack/api.py alternatives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DCDS: 10 marks, 40%, tentative 26–30 Oct 2026. CCE: 30 marks, tentative 19 Oct 2026. SQL/NoSQL connection and stored routine still require the actual database services; do not claim that local substitute validates those scoring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docs/DCDSL Evaluation Plan_with detailed rubrics.pdf pp1–3; docs/Evaluation_Plan_Cloud_Computing_Essentials.pdf pp1–2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docs/DEMO_RUNBOOK.md or scripts/demo_flow.py. API demo completed 13 checks; browser script exercises actual forms and roles. Both asset and consumable branches use synthetic data. Open http://127.0.0.1:8000 for the current local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scripts/demo_flow.py; scripts/browser_demo.mjs; .artifacts/demo-evidence.json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boundaries are explicit rather than silently invented. The user authorized project execution independently of the pending canonical SDD gate. The presentation is not itself an implementation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docs/EXECUTION_DECISIONS.md; docs/ASTRA/EXECUTION_AUTHORIZATION.md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about authority, concurrency, database ownership, replaceable adapters and the boundaries of current execution. Do not claim adoption, measured benefits or live cloud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docs/EXECUTION_PLAN.md; docs/DEMO_RUNBOOK.md</a:t>
            </a:r>
          </a:p>
          <a:p xmlns:a="http://schemas.openxmlformats.org/drawingml/2006/main">
            <a:r>
              <a:t>Execution date: 2026-10-15. Synthetic prototype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0fae817134d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456d754dc4f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c0ba70ce24c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5929e411a43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41c6c300f4b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314a71e5249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423925-25D4-41AB-BE1C-8E64D6322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2063A6-2367-4ACA-9913-FC3171E7B5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D2C358-F4DA-4A62-A3DE-D1F8E467C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F02DFD-5CE9-4A43-97E7-369A03B20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0400B3-B518-44AB-8BEF-552FA0AF75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0C20FD-B904-42C7-923F-772C21A8C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2CDBE9-0587-49E2-921A-6793CA1C81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70AB5B-2D50-44A6-A4D5-4F88299C81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7C51EE-4E0E-4475-A85A-6E02243160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DCB889-F5BF-48DA-B145-C2C9D90B8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b86c6d0e84fe0" /><Relationship Type="http://schemas.openxmlformats.org/officeDocument/2006/relationships/slideLayout" Target="/ppt/slideLayouts/slideLayout1.xml" Id="R5c7e04824e0249df" /><Relationship Type="http://schemas.openxmlformats.org/officeDocument/2006/relationships/slideLayout" Target="/ppt/slideLayouts/slideLayout2.xml" Id="Rd8eea08784f14d68" /><Relationship Type="http://schemas.openxmlformats.org/officeDocument/2006/relationships/slideLayout" Target="/ppt/slideLayouts/slideLayout3.xml" Id="Raf2d27aaf0164def" /><Relationship Type="http://schemas.openxmlformats.org/officeDocument/2006/relationships/slideLayout" Target="/ppt/slideLayouts/slideLayout4.xml" Id="Ra9dabd072a844cff" /><Relationship Type="http://schemas.openxmlformats.org/officeDocument/2006/relationships/slideLayout" Target="/ppt/slideLayouts/slideLayout5.xml" Id="Rfa72e812fcf24edf" /><Relationship Type="http://schemas.openxmlformats.org/officeDocument/2006/relationships/slideLayout" Target="/ppt/slideLayouts/slideLayout6.xml" Id="R2210b5413e8f43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e04824e0249df"/>
    <p:sldLayoutId xmlns:r="http://schemas.openxmlformats.org/officeDocument/2006/relationships" id="2147483650" r:id="Rd8eea08784f14d68"/>
    <p:sldLayoutId xmlns:r="http://schemas.openxmlformats.org/officeDocument/2006/relationships" id="2147483651" r:id="Raf2d27aaf0164def"/>
    <p:sldLayoutId xmlns:r="http://schemas.openxmlformats.org/officeDocument/2006/relationships" id="2147483652" r:id="Ra9dabd072a844cff"/>
    <p:sldLayoutId xmlns:r="http://schemas.openxmlformats.org/officeDocument/2006/relationships" id="2147483653" r:id="Rfa72e812fcf24edf"/>
    <p:sldLayoutId xmlns:r="http://schemas.openxmlformats.org/officeDocument/2006/relationships" id="2147483654" r:id="R2210b5413e8f43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4c8d6c91c4c1c" /><Relationship Type="http://schemas.openxmlformats.org/officeDocument/2006/relationships/image" Target="/ppt/media/image.png" Id="Rd7ee562d30094955" /><Relationship Type="http://schemas.openxmlformats.org/officeDocument/2006/relationships/notesSlide" Target="/ppt/notesSlides/notesSlide1.xml" Id="R4129fdac22e9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7e7038e6e4a21" /><Relationship Type="http://schemas.openxmlformats.org/officeDocument/2006/relationships/notesSlide" Target="/ppt/notesSlides/notesSlide2.xml" Id="R9487cb8dee3843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7754285a84a1f" /><Relationship Type="http://schemas.openxmlformats.org/officeDocument/2006/relationships/notesSlide" Target="/ppt/notesSlides/notesSlide3.xml" Id="Re6ed88350cf0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29a9acdeb4143" /><Relationship Type="http://schemas.openxmlformats.org/officeDocument/2006/relationships/image" Target="/ppt/media/image2.png" Id="Rcda517e9a8254bea" /><Relationship Type="http://schemas.openxmlformats.org/officeDocument/2006/relationships/notesSlide" Target="/ppt/notesSlides/notesSlide4.xml" Id="R1d038110c302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0b35819964514" /><Relationship Type="http://schemas.openxmlformats.org/officeDocument/2006/relationships/notesSlide" Target="/ppt/notesSlides/notesSlide5.xml" Id="R3115cf15847748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46771cba147fc" /><Relationship Type="http://schemas.openxmlformats.org/officeDocument/2006/relationships/notesSlide" Target="/ppt/notesSlides/notesSlide6.xml" Id="R189ee79fa7af4d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23df84d5b437b" /><Relationship Type="http://schemas.openxmlformats.org/officeDocument/2006/relationships/image" Target="/ppt/media/image3.png" Id="Rddb44a836bee45d7" /><Relationship Type="http://schemas.openxmlformats.org/officeDocument/2006/relationships/notesSlide" Target="/ppt/notesSlides/notesSlide7.xml" Id="R0c9c0d1bd5934e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460dd596e04598" /><Relationship Type="http://schemas.openxmlformats.org/officeDocument/2006/relationships/notesSlide" Target="/ppt/notesSlides/notesSlide8.xml" Id="R5f22be0a1a3d46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af44391a9424c" /><Relationship Type="http://schemas.openxmlformats.org/officeDocument/2006/relationships/image" Target="/ppt/media/image4.png" Id="Rda77ee1ef55047a2" /><Relationship Type="http://schemas.openxmlformats.org/officeDocument/2006/relationships/notesSlide" Target="/ppt/notesSlides/notesSlide9.xml" Id="R6f281b49bd8f4d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9ed327f1734daa" /><Relationship Type="http://schemas.openxmlformats.org/officeDocument/2006/relationships/notesSlide" Target="/ppt/notesSlides/notesSlide10.xml" Id="Rda0f24e5b31744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02b263eb84ede" /><Relationship Type="http://schemas.openxmlformats.org/officeDocument/2006/relationships/notesSlide" Target="/ppt/notesSlides/notesSlide11.xml" Id="R53f146eae21d44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a7b62dc8b4fbb" /><Relationship Type="http://schemas.openxmlformats.org/officeDocument/2006/relationships/notesSlide" Target="/ppt/notesSlides/notesSlide12.xml" Id="R1607367af9bc48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331633c974a99" /><Relationship Type="http://schemas.openxmlformats.org/officeDocument/2006/relationships/image" Target="/ppt/media/image5.png" Id="Rf6d7cc98967040d7" /><Relationship Type="http://schemas.openxmlformats.org/officeDocument/2006/relationships/notesSlide" Target="/ppt/notesSlides/notesSlide13.xml" Id="R56a9bb1ca7374e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afc17a98f4668" /><Relationship Type="http://schemas.openxmlformats.org/officeDocument/2006/relationships/notesSlide" Target="/ppt/notesSlides/notesSlide14.xml" Id="R69a9b9fcad9849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ccbe24b954726" /><Relationship Type="http://schemas.openxmlformats.org/officeDocument/2006/relationships/image" Target="/ppt/media/image6.png" Id="Rd4eb3e078a2146d2" /><Relationship Type="http://schemas.openxmlformats.org/officeDocument/2006/relationships/notesSlide" Target="/ppt/notesSlides/notesSlide15.xml" Id="Rf0f5026526934e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62032893f40e2" /><Relationship Type="http://schemas.openxmlformats.org/officeDocument/2006/relationships/image" Target="/ppt/media/image7.png" Id="Ra0931b6fb0984d99" /><Relationship Type="http://schemas.openxmlformats.org/officeDocument/2006/relationships/notesSlide" Target="/ppt/notesSlides/notesSlide16.xml" Id="Rb2ed2559cb5248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de1ce583c46d0" /><Relationship Type="http://schemas.openxmlformats.org/officeDocument/2006/relationships/notesSlide" Target="/ppt/notesSlides/notesSlide17.xml" Id="Rc652fc1b332b4b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3cb1755b84f99" /><Relationship Type="http://schemas.openxmlformats.org/officeDocument/2006/relationships/notesSlide" Target="/ppt/notesSlides/notesSlide18.xml" Id="Rc77303146d7a42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8cfc868d94c8f" /><Relationship Type="http://schemas.openxmlformats.org/officeDocument/2006/relationships/notesSlide" Target="/ppt/notesSlides/notesSlide19.xml" Id="R97ba5f4cd41b4e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61808435e4783" /><Relationship Type="http://schemas.openxmlformats.org/officeDocument/2006/relationships/notesSlide" Target="/ppt/notesSlides/notesSlide20.xml" Id="Rd37c7f1e7d604a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a8bf840694b87" /><Relationship Type="http://schemas.openxmlformats.org/officeDocument/2006/relationships/notesSlide" Target="/ppt/notesSlides/notesSlide21.xml" Id="Redea0a2a1c2a41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6f17300874267" /><Relationship Type="http://schemas.openxmlformats.org/officeDocument/2006/relationships/notesSlide" Target="/ppt/notesSlides/notesSlide22.xml" Id="R72be8b75abcc4e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CE + DCDS · WORKING PROTOTYPE">
            <a:extLst xmlns:a="http://schemas.openxmlformats.org/drawingml/2006/main">
              <a:ext uri="{FF2B5EF4-FFF2-40B4-BE49-F238E27FC236}">
                <a16:creationId xmlns:a16="http://schemas.microsoft.com/office/drawing/2014/main" id="{15FCDD01-CA90-4865-BEA9-1ED0EAA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CCE + DCDS · WORKING PROTOTYPE</a:t>
            </a:r>
          </a:p>
        </p:txBody>
      </p:sp>
      <p:sp>
        <p:nvSpPr>
          <p:cNvPr id="2" name="LabTrack.">
            <a:extLst xmlns:a="http://schemas.openxmlformats.org/drawingml/2006/main">
              <a:ext uri="{FF2B5EF4-FFF2-40B4-BE49-F238E27FC236}">
                <a16:creationId xmlns:a16="http://schemas.microsoft.com/office/drawing/2014/main" id="{B095670B-8C44-425D-9017-A9002AB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LabTrack.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7E0B22B7-1B03-4230-A80F-0D66443B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6B68454-819B-472D-A660-8836D7CE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Hardware component availability,&#10;is">
            <a:extLst xmlns:a="http://schemas.openxmlformats.org/drawingml/2006/main">
              <a:ext uri="{FF2B5EF4-FFF2-40B4-BE49-F238E27FC236}">
                <a16:creationId xmlns:a16="http://schemas.microsoft.com/office/drawing/2014/main" id="{187420A7-029D-4D4A-A9F1-3CCAC7A6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Hardware component availability,</a:t>
            </a:r>
          </a:p>
          <a:p xmlns:a="http://schemas.openxmlformats.org/drawingml/2006/main">
            <a:pPr>
              <a:defRPr sz="27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issuance &amp; tracking</a:t>
            </a:r>
          </a:p>
        </p:txBody>
      </p:sp>
      <p:sp>
        <p:nvSpPr>
          <p:cNvPr id="6" name="Project context. Physical custody.&#10;">
            <a:extLst xmlns:a="http://schemas.openxmlformats.org/drawingml/2006/main">
              <a:ext uri="{FF2B5EF4-FFF2-40B4-BE49-F238E27FC236}">
                <a16:creationId xmlns:a16="http://schemas.microsoft.com/office/drawing/2014/main" id="{46E36144-3E04-4A6F-9A08-CD791C5D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Project context. Physical custody.</a:t>
            </a:r>
          </a:p>
          <a:p xmlns:a="http://schemas.openxmlformats.org/drawingml/2006/main">
            <a:pPr>
              <a:defRPr sz="21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A complete history.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2E205-9E7F-4B18-83FA-0B7C7676A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e562d30094955"/>
          <a:stretch xmlns:a="http://schemas.openxmlformats.org/drawingml/2006/main"/>
        </p:blipFill>
        <p:spPr>
          <a:xfrm xmlns:a="http://schemas.openxmlformats.org/drawingml/2006/main">
            <a:off x="6381750" y="2108597"/>
            <a:ext cx="5200650" cy="3250406"/>
          </a:xfrm>
          <a:prstGeom xmlns:a="http://schemas.openxmlformats.org/drawingml/2006/main" prst="rect">
            <a:avLst/>
          </a:prstGeom>
        </p:spPr>
      </p:pic>
      <p:sp>
        <p:nvSpPr>
          <p:cNvPr id="8" name="Ishaan · backend / database / integ">
            <a:extLst xmlns:a="http://schemas.openxmlformats.org/drawingml/2006/main">
              <a:ext uri="{FF2B5EF4-FFF2-40B4-BE49-F238E27FC236}">
                <a16:creationId xmlns:a16="http://schemas.microsoft.com/office/drawing/2014/main" id="{31DADD65-4018-4F5B-94CF-F75E335C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5619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BB7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9BB7A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B7A4"/>
                </a:solidFill>
                <a:latin typeface="Arial"/>
                <a:ea typeface="Arial"/>
                <a:cs typeface="Arial"/>
              </a:rPr>
              <a:t>Ishaan · backend / database / integration</a:t>
            </a:r>
          </a:p>
          <a:p xmlns:a="http://schemas.openxmlformats.org/drawingml/2006/main">
            <a:pPr>
              <a:defRPr sz="1425" b="0">
                <a:solidFill>
                  <a:srgbClr val="9BB7A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B7A4"/>
                </a:solidFill>
                <a:latin typeface="Arial"/>
                <a:ea typeface="Arial"/>
                <a:cs typeface="Arial"/>
              </a:rPr>
              <a:t>Raghu · frontend</a:t>
            </a:r>
          </a:p>
        </p:txBody>
      </p:sp>
    </p:spTree>
    <p:extLst>
      <p:ext uri="{BB962C8B-B14F-4D97-AF65-F5344CB8AC3E}">
        <p14:creationId xmlns:p14="http://schemas.microsoft.com/office/powerpoint/2010/main" val="573615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BLEM &amp; CURRENT MANUAL PROCESS">
            <a:extLst xmlns:a="http://schemas.openxmlformats.org/drawingml/2006/main">
              <a:ext uri="{FF2B5EF4-FFF2-40B4-BE49-F238E27FC236}">
                <a16:creationId xmlns:a16="http://schemas.microsoft.com/office/drawing/2014/main" id="{08579498-479E-4791-8B6D-7EA85B36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PROBLEM &amp; CURRENT MANUAL PROCESS</a:t>
            </a:r>
          </a:p>
        </p:txBody>
      </p:sp>
      <p:sp>
        <p:nvSpPr>
          <p:cNvPr id="2" name="The record is spread across tools.">
            <a:extLst xmlns:a="http://schemas.openxmlformats.org/drawingml/2006/main">
              <a:ext uri="{FF2B5EF4-FFF2-40B4-BE49-F238E27FC236}">
                <a16:creationId xmlns:a16="http://schemas.microsoft.com/office/drawing/2014/main" id="{45F9C4B1-2059-4619-B24E-74D7E382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The record is spread across tools.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AF3AA11B-A5F7-422D-B860-9D90FD07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99B1159D-9D19-4EC1-9968-28F81B60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F6D63473-DDEA-4DF5-93EE-D1989E79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Email: project requirements and app">
            <a:extLst xmlns:a="http://schemas.openxmlformats.org/drawingml/2006/main">
              <a:ext uri="{FF2B5EF4-FFF2-40B4-BE49-F238E27FC236}">
                <a16:creationId xmlns:a16="http://schemas.microsoft.com/office/drawing/2014/main" id="{3373D924-5A5A-4CE4-8EFF-2DE7CE3A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336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Email: project requirements and approval conversations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A7831CE0-B8C1-49D5-842B-84F5D779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Excel: inventory availability and l">
            <a:extLst xmlns:a="http://schemas.openxmlformats.org/drawingml/2006/main">
              <a:ext uri="{FF2B5EF4-FFF2-40B4-BE49-F238E27FC236}">
                <a16:creationId xmlns:a16="http://schemas.microsoft.com/office/drawing/2014/main" id="{E094B72F-A28C-4679-BE2A-5AA3DDE0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Excel: inventory availability and lab quantities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031B95BD-73C6-42F3-8D55-8D29782E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Notebook: physical issue and custod">
            <a:extLst xmlns:a="http://schemas.openxmlformats.org/drawingml/2006/main">
              <a:ext uri="{FF2B5EF4-FFF2-40B4-BE49-F238E27FC236}">
                <a16:creationId xmlns:a16="http://schemas.microsoft.com/office/drawing/2014/main" id="{458A8ADD-C3D3-4BB9-92B1-8D1815C6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Notebook: physical issue and custody history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529E0231-CD01-408D-BAAC-9C4C6F87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Manual follow-up: due dates, return">
            <a:extLst xmlns:a="http://schemas.openxmlformats.org/drawingml/2006/main">
              <a:ext uri="{FF2B5EF4-FFF2-40B4-BE49-F238E27FC236}">
                <a16:creationId xmlns:a16="http://schemas.microsoft.com/office/drawing/2014/main" id="{C15863B9-1356-4A4A-8AC7-4302D78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339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Manual follow-up: due dates, return checks and exceptions</a:t>
            </a:r>
          </a:p>
        </p:txBody>
      </p:sp>
    </p:spTree>
    <p:extLst>
      <p:ext uri="{BB962C8B-B14F-4D97-AF65-F5344CB8AC3E}">
        <p14:creationId xmlns:p14="http://schemas.microsoft.com/office/powerpoint/2010/main" val="1716974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SEARCH &amp; LITERATURE CONTEXT">
            <a:extLst xmlns:a="http://schemas.openxmlformats.org/drawingml/2006/main">
              <a:ext uri="{FF2B5EF4-FFF2-40B4-BE49-F238E27FC236}">
                <a16:creationId xmlns:a16="http://schemas.microsoft.com/office/drawing/2014/main" id="{F30F4D4F-E68E-40CF-84BA-14FFF05E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RESEARCH &amp; LITERATURE CONTEXT</a:t>
            </a:r>
          </a:p>
        </p:txBody>
      </p:sp>
      <p:sp>
        <p:nvSpPr>
          <p:cNvPr id="2" name="Existing patterns, a department-spe">
            <a:extLst xmlns:a="http://schemas.openxmlformats.org/drawingml/2006/main">
              <a:ext uri="{FF2B5EF4-FFF2-40B4-BE49-F238E27FC236}">
                <a16:creationId xmlns:a16="http://schemas.microsoft.com/office/drawing/2014/main" id="{66206D25-E96C-4EE7-AB50-2044310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Existing patterns, a department-specific workflow.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27755F0E-2A3F-4877-A794-3D0757EE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36F99688-5641-4ADB-9093-19B9E876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787D4-019D-4F53-A498-BE95482B483D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3619500"/>
                <a:gridCol w="4162425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Primary reference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Established pattern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LabTrack application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Snipe-IT documentation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Asset check-in / check-out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Physical-unit custody history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GLPI reservations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Equipment reservation slots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R&amp;A inventory queue context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AWS outbox guidance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Database + event consistency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SQL transaction / notification boundary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Project contribution: academic proj">
            <a:extLst xmlns:a="http://schemas.openxmlformats.org/drawingml/2006/main">
              <a:ext uri="{FF2B5EF4-FFF2-40B4-BE49-F238E27FC236}">
                <a16:creationId xmlns:a16="http://schemas.microsoft.com/office/drawing/2014/main" id="{24E48D2A-71E6-48DD-A065-4DB4AA79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Project contribution: academic project ownership, class-specific faculty routing</a:t>
            </a:r>
          </a:p>
          <a:p xmlns:a="http://schemas.openxmlformats.org/drawingml/2006/main">
            <a:pPr>
              <a:defRPr sz="19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and quantity-aware lab fulfilment in one R&amp;A lifecycle.</a:t>
            </a:r>
          </a:p>
        </p:txBody>
      </p:sp>
    </p:spTree>
    <p:extLst>
      <p:ext uri="{BB962C8B-B14F-4D97-AF65-F5344CB8AC3E}">
        <p14:creationId xmlns:p14="http://schemas.microsoft.com/office/powerpoint/2010/main" val="1524693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MPLEMENTED SOLUTION">
            <a:extLst xmlns:a="http://schemas.openxmlformats.org/drawingml/2006/main">
              <a:ext uri="{FF2B5EF4-FFF2-40B4-BE49-F238E27FC236}">
                <a16:creationId xmlns:a16="http://schemas.microsoft.com/office/drawing/2014/main" id="{DED40510-3670-4BFF-8696-08A65E1F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IMPLEMENTED SOLUTION</a:t>
            </a:r>
          </a:p>
        </p:txBody>
      </p:sp>
      <p:sp>
        <p:nvSpPr>
          <p:cNvPr id="2" name="One workspace for the hardware life">
            <a:extLst xmlns:a="http://schemas.openxmlformats.org/drawingml/2006/main">
              <a:ext uri="{FF2B5EF4-FFF2-40B4-BE49-F238E27FC236}">
                <a16:creationId xmlns:a16="http://schemas.microsoft.com/office/drawing/2014/main" id="{CBC96A92-45BD-4F28-A5E6-917035E3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One workspace for the hardware lifecycle.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FC09E2BD-1C75-4802-9FFC-140EE3D2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17D8BDF8-FEDD-4955-963B-C86E5ED1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668F3-4724-4F80-BD45-C8FC90CB7C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517e9a8254bea"/>
          <a:stretch xmlns:a="http://schemas.openxmlformats.org/drawingml/2006/main"/>
        </p:blipFill>
        <p:spPr>
          <a:xfrm xmlns:a="http://schemas.openxmlformats.org/drawingml/2006/main">
            <a:off x="4627245" y="1962150"/>
            <a:ext cx="6614160" cy="4133850"/>
          </a:xfrm>
          <a:prstGeom xmlns:a="http://schemas.openxmlformats.org/drawingml/2006/main" prst="rect">
            <a:avLst/>
          </a:prstGeom>
        </p:spPr>
      </p:pic>
      <p:sp>
        <p:nvSpPr>
          <p:cNvPr id="6" name="Discover stock&#10;Submit a project req">
            <a:extLst xmlns:a="http://schemas.openxmlformats.org/drawingml/2006/main">
              <a:ext uri="{FF2B5EF4-FFF2-40B4-BE49-F238E27FC236}">
                <a16:creationId xmlns:a16="http://schemas.microsoft.com/office/drawing/2014/main" id="{5DDBE719-C535-4704-A05B-2A5A5617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333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Discover stock</a:t>
            </a:r>
          </a:p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Submit a project request</a:t>
            </a:r>
          </a:p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Follow its approvals</a:t>
            </a:r>
          </a:p>
          <a:p xmlns:a="http://schemas.openxmlformats.org/drawingml/2006/main">
            <a:pPr>
              <a:defRPr sz="22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Verify issue and return</a:t>
            </a:r>
          </a:p>
        </p:txBody>
      </p:sp>
      <p:sp>
        <p:nvSpPr>
          <p:cNvPr id="7" name="Running local prototype&#10;Synthetic d">
            <a:extLst xmlns:a="http://schemas.openxmlformats.org/drawingml/2006/main">
              <a:ext uri="{FF2B5EF4-FFF2-40B4-BE49-F238E27FC236}">
                <a16:creationId xmlns:a16="http://schemas.microsoft.com/office/drawing/2014/main" id="{B6B7D8D2-69B5-46FD-ABB8-78EF1910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Running local prototype</a:t>
            </a:r>
          </a:p>
          <a:p xmlns:a="http://schemas.openxmlformats.org/drawingml/2006/main">
            <a:pPr>
              <a:defRPr sz="15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Synthetic data throughout</a:t>
            </a:r>
          </a:p>
        </p:txBody>
      </p:sp>
    </p:spTree>
    <p:extLst>
      <p:ext uri="{BB962C8B-B14F-4D97-AF65-F5344CB8AC3E}">
        <p14:creationId xmlns:p14="http://schemas.microsoft.com/office/powerpoint/2010/main" val="1348973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SERS &amp; RESPONSIBILITY">
            <a:extLst xmlns:a="http://schemas.openxmlformats.org/drawingml/2006/main">
              <a:ext uri="{FF2B5EF4-FFF2-40B4-BE49-F238E27FC236}">
                <a16:creationId xmlns:a16="http://schemas.microsoft.com/office/drawing/2014/main" id="{55F91BD4-E767-4F7C-8E78-9419AE42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USERS &amp; RESPONSIBILITY</a:t>
            </a:r>
          </a:p>
        </p:txBody>
      </p:sp>
      <p:sp>
        <p:nvSpPr>
          <p:cNvPr id="2" name="The right actor at each step.">
            <a:extLst xmlns:a="http://schemas.openxmlformats.org/drawingml/2006/main">
              <a:ext uri="{FF2B5EF4-FFF2-40B4-BE49-F238E27FC236}">
                <a16:creationId xmlns:a16="http://schemas.microsoft.com/office/drawing/2014/main" id="{8AE57440-6D75-4804-BA67-6DC1CED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The right actor at each step.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38C9359F-28CE-4B69-A025-808539D2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34D07CD8-7FE5-49CD-8E5D-B3907C8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D843C-DD22-49EF-B0DF-F013631CC79A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556532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Actor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Recorded responsibility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Student / Project Lead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Project team, requirements and request submission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Faculty Mentor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First approve / reject review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Lab In-Charge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Asset-side faculty review; assigned labs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HoD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Normal final approval; R&amp;A-wide visibility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Lab Assistant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Physical verification, issue and inspection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5653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Technical Admin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Setup, configuration and deployment support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015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ROVAL WORKFLOW">
            <a:extLst xmlns:a="http://schemas.openxmlformats.org/drawingml/2006/main">
              <a:ext uri="{FF2B5EF4-FFF2-40B4-BE49-F238E27FC236}">
                <a16:creationId xmlns:a16="http://schemas.microsoft.com/office/drawing/2014/main" id="{A663B008-FBCE-4650-907B-E33822AB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APPROVAL WORKFLOW</a:t>
            </a:r>
          </a:p>
        </p:txBody>
      </p:sp>
      <p:sp>
        <p:nvSpPr>
          <p:cNvPr id="2" name="Approval and physical issue stay di">
            <a:extLst xmlns:a="http://schemas.openxmlformats.org/drawingml/2006/main">
              <a:ext uri="{FF2B5EF4-FFF2-40B4-BE49-F238E27FC236}">
                <a16:creationId xmlns:a16="http://schemas.microsoft.com/office/drawing/2014/main" id="{8C2699FF-B60C-483A-AF9F-0A29E5A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Approval and physical issue stay distinct.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124C4047-21E8-4131-81CA-D0CC008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546BF93A-B98E-462B-B2AA-6C3A36C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CONSUMABLES">
            <a:extLst xmlns:a="http://schemas.openxmlformats.org/drawingml/2006/main">
              <a:ext uri="{FF2B5EF4-FFF2-40B4-BE49-F238E27FC236}">
                <a16:creationId xmlns:a16="http://schemas.microsoft.com/office/drawing/2014/main" id="{9956ED88-5F9F-4AFE-8349-1E9604D6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CONSUMABLES</a:t>
            </a:r>
          </a:p>
        </p:txBody>
      </p:sp>
      <p:sp>
        <p:nvSpPr>
          <p:cNvPr id="6" name="Student  →  Mentor  →  Central Stor">
            <a:extLst xmlns:a="http://schemas.openxmlformats.org/drawingml/2006/main">
              <a:ext uri="{FF2B5EF4-FFF2-40B4-BE49-F238E27FC236}">
                <a16:creationId xmlns:a16="http://schemas.microsoft.com/office/drawing/2014/main" id="{C5980FDD-9F2B-43F9-8205-580EE50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Student  →  Mentor  →  Central Store  →  HoD</a:t>
            </a:r>
          </a:p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→  Lab Assistant  →  Physical issue</a:t>
            </a:r>
          </a:p>
        </p:txBody>
      </p:sp>
      <p:sp>
        <p:nvSpPr>
          <p:cNvPr id="7" name="ASSETS">
            <a:extLst xmlns:a="http://schemas.openxmlformats.org/drawingml/2006/main">
              <a:ext uri="{FF2B5EF4-FFF2-40B4-BE49-F238E27FC236}">
                <a16:creationId xmlns:a16="http://schemas.microsoft.com/office/drawing/2014/main" id="{764E81B3-DE83-4CDB-B8CB-F4AB024F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8" name="Student  →  Mentor  →  Lab In-Charg">
            <a:extLst xmlns:a="http://schemas.openxmlformats.org/drawingml/2006/main">
              <a:ext uri="{FF2B5EF4-FFF2-40B4-BE49-F238E27FC236}">
                <a16:creationId xmlns:a16="http://schemas.microsoft.com/office/drawing/2014/main" id="{7EA90B70-1816-4CAE-9649-10F0180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Student  →  Mentor  →  Lab In-Charge  →  HoD</a:t>
            </a:r>
          </a:p>
          <a:p xmlns:a="http://schemas.openxmlformats.org/drawingml/2006/main">
            <a:pPr>
              <a:defRPr sz="255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→  Lab Assistant  →  Asset use / issue</a:t>
            </a:r>
          </a:p>
        </p:txBody>
      </p:sp>
    </p:spTree>
    <p:extLst>
      <p:ext uri="{BB962C8B-B14F-4D97-AF65-F5344CB8AC3E}">
        <p14:creationId xmlns:p14="http://schemas.microsoft.com/office/powerpoint/2010/main" val="617531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OJECT-BASED MANAGEMENT">
            <a:extLst xmlns:a="http://schemas.openxmlformats.org/drawingml/2006/main">
              <a:ext uri="{FF2B5EF4-FFF2-40B4-BE49-F238E27FC236}">
                <a16:creationId xmlns:a16="http://schemas.microsoft.com/office/drawing/2014/main" id="{0996855C-86D1-4B64-A146-3B6DF93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PROJECT-BASED MANAGEMENT</a:t>
            </a:r>
          </a:p>
        </p:txBody>
      </p:sp>
      <p:sp>
        <p:nvSpPr>
          <p:cNvPr id="2" name="Hardware requests belong to a proje">
            <a:extLst xmlns:a="http://schemas.openxmlformats.org/drawingml/2006/main">
              <a:ext uri="{FF2B5EF4-FFF2-40B4-BE49-F238E27FC236}">
                <a16:creationId xmlns:a16="http://schemas.microsoft.com/office/drawing/2014/main" id="{0BF1E639-A27C-41A0-948B-E17FEEA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Hardware requests belong to a project.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72C784AF-B70E-42EB-B521-EBC2121A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A08836A2-EC5A-414D-82A1-D9750CC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B3F99-1A5C-4D74-8B3E-B9BADB3CCE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44a836bee45d7"/>
          <a:stretch xmlns:a="http://schemas.openxmlformats.org/drawingml/2006/main"/>
        </p:blipFill>
        <p:spPr>
          <a:xfrm xmlns:a="http://schemas.openxmlformats.org/drawingml/2006/main">
            <a:off x="4586288" y="201930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5E438814-1C84-43C9-A7EA-512C7FF5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mmutable Project ID">
            <a:extLst xmlns:a="http://schemas.openxmlformats.org/drawingml/2006/main">
              <a:ext uri="{FF2B5EF4-FFF2-40B4-BE49-F238E27FC236}">
                <a16:creationId xmlns:a16="http://schemas.microsoft.com/office/drawing/2014/main" id="{C7E3ABE4-16F2-4C47-9C4A-357C6842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383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Immutable Project ID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D12DE8E3-9B71-4474-8D11-46E19163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udent lead and members">
            <a:extLst xmlns:a="http://schemas.openxmlformats.org/drawingml/2006/main">
              <a:ext uri="{FF2B5EF4-FFF2-40B4-BE49-F238E27FC236}">
                <a16:creationId xmlns:a16="http://schemas.microsoft.com/office/drawing/2014/main" id="{13E44C58-D519-48DD-B554-40C4C70A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194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Student lead and members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55DF73BF-7EC5-40CF-A20C-7180144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Assigned Faculty Mentor">
            <a:extLst xmlns:a="http://schemas.openxmlformats.org/drawingml/2006/main">
              <a:ext uri="{FF2B5EF4-FFF2-40B4-BE49-F238E27FC236}">
                <a16:creationId xmlns:a16="http://schemas.microsoft.com/office/drawing/2014/main" id="{C9A33A01-AACA-4FF0-83EB-0D2B8269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004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Assigned Faculty Mentor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ED29B042-7201-4F09-B331-37779BA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Linked request history">
            <a:extLst xmlns:a="http://schemas.openxmlformats.org/drawingml/2006/main">
              <a:ext uri="{FF2B5EF4-FFF2-40B4-BE49-F238E27FC236}">
                <a16:creationId xmlns:a16="http://schemas.microsoft.com/office/drawing/2014/main" id="{7E64F4E2-EA78-452A-A69A-1F95DA24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815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Linked request history</a:t>
            </a:r>
          </a:p>
        </p:txBody>
      </p:sp>
    </p:spTree>
    <p:extLst>
      <p:ext uri="{BB962C8B-B14F-4D97-AF65-F5344CB8AC3E}">
        <p14:creationId xmlns:p14="http://schemas.microsoft.com/office/powerpoint/2010/main" val="1980970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NVENTORY MODEL">
            <a:extLst xmlns:a="http://schemas.openxmlformats.org/drawingml/2006/main">
              <a:ext uri="{FF2B5EF4-FFF2-40B4-BE49-F238E27FC236}">
                <a16:creationId xmlns:a16="http://schemas.microsoft.com/office/drawing/2014/main" id="{97628A3D-34FA-41D0-A0CD-02B6E1D7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INVENTORY MODEL</a:t>
            </a:r>
          </a:p>
        </p:txBody>
      </p:sp>
      <p:sp>
        <p:nvSpPr>
          <p:cNvPr id="2" name="Assets and Consumables are differen">
            <a:extLst xmlns:a="http://schemas.openxmlformats.org/drawingml/2006/main">
              <a:ext uri="{FF2B5EF4-FFF2-40B4-BE49-F238E27FC236}">
                <a16:creationId xmlns:a16="http://schemas.microsoft.com/office/drawing/2014/main" id="{92F70994-308F-470E-BD2A-D6BB7356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Assets and Consumables are different.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D2D71531-ECF5-48E1-BE9A-3082B1AD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DD6D0457-207B-4810-99AD-3565DB44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9668C-394E-4748-87BB-B79A7465D06F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95775"/>
                <a:gridCol w="4295775"/>
              </a:tblGrid>
              <a:tr h="622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Concern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Assets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Consumables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Identity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SIT Barcode / physical unit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Catalogue type / per-lab quantity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Procurement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Default ID + shared Bill Number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Optional procurement metadata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Jetson Nano, Robotic Arm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Sensors, motors, batteries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Availability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Unit state and lab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Good quantity by lab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Return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Unit condition + functional test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Good / bad / missing quantities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Consumables are returnable. Active ">
            <a:extLst xmlns:a="http://schemas.openxmlformats.org/drawingml/2006/main">
              <a:ext uri="{FF2B5EF4-FFF2-40B4-BE49-F238E27FC236}">
                <a16:creationId xmlns:a16="http://schemas.microsoft.com/office/drawing/2014/main" id="{93E848DB-81E0-469A-8E31-E653572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Consumables are returnable. Active physical lab stock = good + bad.</a:t>
            </a:r>
          </a:p>
        </p:txBody>
      </p:sp>
    </p:spTree>
    <p:extLst>
      <p:ext uri="{BB962C8B-B14F-4D97-AF65-F5344CB8AC3E}">
        <p14:creationId xmlns:p14="http://schemas.microsoft.com/office/powerpoint/2010/main" val="716038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VAILABILITY &amp; REQUESTS">
            <a:extLst xmlns:a="http://schemas.openxmlformats.org/drawingml/2006/main">
              <a:ext uri="{FF2B5EF4-FFF2-40B4-BE49-F238E27FC236}">
                <a16:creationId xmlns:a16="http://schemas.microsoft.com/office/drawing/2014/main" id="{E7E65277-CBB9-4460-8B41-2842F7C8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AVAILABILITY &amp; REQUESTS</a:t>
            </a:r>
          </a:p>
        </p:txBody>
      </p:sp>
      <p:sp>
        <p:nvSpPr>
          <p:cNvPr id="2" name="Check stock before submitting.">
            <a:extLst xmlns:a="http://schemas.openxmlformats.org/drawingml/2006/main">
              <a:ext uri="{FF2B5EF4-FFF2-40B4-BE49-F238E27FC236}">
                <a16:creationId xmlns:a16="http://schemas.microsoft.com/office/drawing/2014/main" id="{EEAC7C8E-4C70-4DA2-8D62-4B1F26C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Check stock before submitting.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8BA7B8DF-B7C8-4736-98DB-838D1C0C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98DB113A-C860-4188-98C4-96E980F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A2470-896D-41EF-B192-1BD783AD1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7ee1ef55047a2"/>
          <a:srcRect xmlns:a="http://schemas.openxmlformats.org/drawingml/2006/main" l="16000" t="8000" r="0" b="22000"/>
          <a:stretch xmlns:a="http://schemas.openxmlformats.org/drawingml/2006/main"/>
        </p:blipFill>
        <p:spPr>
          <a:xfrm xmlns:a="http://schemas.openxmlformats.org/drawingml/2006/main">
            <a:off x="609600" y="1933575"/>
            <a:ext cx="109728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Current quantity and candidate labs">
            <a:extLst xmlns:a="http://schemas.openxmlformats.org/drawingml/2006/main">
              <a:ext uri="{FF2B5EF4-FFF2-40B4-BE49-F238E27FC236}">
                <a16:creationId xmlns:a16="http://schemas.microsoft.com/office/drawing/2014/main" id="{69E926D9-8008-4A5F-A357-15584D3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Current quantity and candidate labs are informative; issue-time revalidation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775506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INIMUM-LAB FULFILMENT">
            <a:extLst xmlns:a="http://schemas.openxmlformats.org/drawingml/2006/main">
              <a:ext uri="{FF2B5EF4-FFF2-40B4-BE49-F238E27FC236}">
                <a16:creationId xmlns:a16="http://schemas.microsoft.com/office/drawing/2014/main" id="{83488C88-951E-427D-A481-CA0CF892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MINIMUM-LAB FULFILMENT</a:t>
            </a:r>
          </a:p>
        </p:txBody>
      </p:sp>
      <p:sp>
        <p:nvSpPr>
          <p:cNvPr id="2" name="Use the fewest feasible issuing lab">
            <a:extLst xmlns:a="http://schemas.openxmlformats.org/drawingml/2006/main">
              <a:ext uri="{FF2B5EF4-FFF2-40B4-BE49-F238E27FC236}">
                <a16:creationId xmlns:a16="http://schemas.microsoft.com/office/drawing/2014/main" id="{E6004618-7682-451A-98D1-862FF9ED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Use the fewest feasible issuing labs.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E67B91C0-05DA-4D98-8752-F2B1716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6B7DC39E-B219-4D96-9E6D-4FCFDAB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CAC6E-4798-49D8-96EA-9C43683478F6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1990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476500"/>
                <a:gridCol w="2571750"/>
                <a:gridCol w="1828800"/>
              </a:tblGrid>
              <a:tr h="663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Synthetic example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Robotics Lab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Automation Lab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HC-SR04 sensors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8 good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5 good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DC gear motors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 good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6 good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  <p:sp>
        <p:nvSpPr>
          <p:cNvPr id="6" name="Automation Lab can supply both quan">
            <a:extLst xmlns:a="http://schemas.openxmlformats.org/drawingml/2006/main">
              <a:ext uri="{FF2B5EF4-FFF2-40B4-BE49-F238E27FC236}">
                <a16:creationId xmlns:a16="http://schemas.microsoft.com/office/drawing/2014/main" id="{53A48116-E93C-43AC-BA27-50F2701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Automation Lab can supply both quantities.</a:t>
            </a:r>
          </a:p>
          <a:p xmlns:a="http://schemas.openxmlformats.org/drawingml/2006/main">
            <a:pPr>
              <a:defRPr sz="255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One lab is sufficient; Robotics Lab alone is not.</a:t>
            </a:r>
          </a:p>
        </p:txBody>
      </p:sp>
      <p:sp>
        <p:nvSpPr>
          <p:cNvPr id="7" name="Objective order: lab count → stock ">
            <a:extLst xmlns:a="http://schemas.openxmlformats.org/drawingml/2006/main">
              <a:ext uri="{FF2B5EF4-FFF2-40B4-BE49-F238E27FC236}">
                <a16:creationId xmlns:a16="http://schemas.microsoft.com/office/drawing/2014/main" id="{6A3B992D-8D5D-4595-8609-CB3CC7F6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Objective order: lab count → stock concentration → stable lab ID.</a:t>
            </a:r>
          </a:p>
        </p:txBody>
      </p:sp>
    </p:spTree>
    <p:extLst>
      <p:ext uri="{BB962C8B-B14F-4D97-AF65-F5344CB8AC3E}">
        <p14:creationId xmlns:p14="http://schemas.microsoft.com/office/powerpoint/2010/main" val="1321898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YSICAL PROCESSING">
            <a:extLst xmlns:a="http://schemas.openxmlformats.org/drawingml/2006/main">
              <a:ext uri="{FF2B5EF4-FFF2-40B4-BE49-F238E27FC236}">
                <a16:creationId xmlns:a16="http://schemas.microsoft.com/office/drawing/2014/main" id="{EFF9600D-14ED-4B0A-897E-F7180303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PHYSICAL PROCESSING</a:t>
            </a:r>
          </a:p>
        </p:txBody>
      </p:sp>
      <p:sp>
        <p:nvSpPr>
          <p:cNvPr id="2" name="The full request commits together.">
            <a:extLst xmlns:a="http://schemas.openxmlformats.org/drawingml/2006/main">
              <a:ext uri="{FF2B5EF4-FFF2-40B4-BE49-F238E27FC236}">
                <a16:creationId xmlns:a16="http://schemas.microsoft.com/office/drawing/2014/main" id="{76623DE9-CAA1-45DF-8C9C-020F016F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The full request commits together.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5AB33AC4-6597-4941-A86C-3897413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CEA70775-739B-4F41-B0B2-86286AA0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ALL LABS. ALL APPROVED LINES.">
            <a:extLst xmlns:a="http://schemas.openxmlformats.org/drawingml/2006/main">
              <a:ext uri="{FF2B5EF4-FFF2-40B4-BE49-F238E27FC236}">
                <a16:creationId xmlns:a16="http://schemas.microsoft.com/office/drawing/2014/main" id="{4B86AA16-77E6-4A0B-93A7-9EDF2D0E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ALL LABS. ALL APPROVED LINES.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6C21919C-4559-4685-B3E0-465713DD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Assistant claims and verifies the o">
            <a:extLst xmlns:a="http://schemas.openxmlformats.org/drawingml/2006/main">
              <a:ext uri="{FF2B5EF4-FFF2-40B4-BE49-F238E27FC236}">
                <a16:creationId xmlns:a16="http://schemas.microsoft.com/office/drawing/2014/main" id="{7809CDC9-243D-4AC4-BFF6-39980B5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0512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Assistant claims and verifies the operational order.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981DEA41-EF81-4425-BD0B-61D42DCF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Backend locks and rechecks every st">
            <a:extLst xmlns:a="http://schemas.openxmlformats.org/drawingml/2006/main">
              <a:ext uri="{FF2B5EF4-FFF2-40B4-BE49-F238E27FC236}">
                <a16:creationId xmlns:a16="http://schemas.microsoft.com/office/drawing/2014/main" id="{0F155111-B69A-41F3-AF17-8E2A54F2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997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Backend locks and rechecks every stock row / asset.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F7A59FB-ECAB-4B83-8676-16ED3AF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Inventory + issue + audit + outbox ">
            <a:extLst xmlns:a="http://schemas.openxmlformats.org/drawingml/2006/main">
              <a:ext uri="{FF2B5EF4-FFF2-40B4-BE49-F238E27FC236}">
                <a16:creationId xmlns:a16="http://schemas.microsoft.com/office/drawing/2014/main" id="{4445CEF6-5972-4EC2-85C6-671CF96B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1482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Inventory + issue + audit + outbox commit atomically.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5DA3AF28-96BB-4D5B-8C47-1E712CA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A shortage in any line prevents eve">
            <a:extLst xmlns:a="http://schemas.openxmlformats.org/drawingml/2006/main">
              <a:ext uri="{FF2B5EF4-FFF2-40B4-BE49-F238E27FC236}">
                <a16:creationId xmlns:a16="http://schemas.microsoft.com/office/drawing/2014/main" id="{C72168EB-F36C-4670-AC61-D04D1278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9675"/>
            <a:ext cx="1030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A shortage in any line prevents every inventory mutation.</a:t>
            </a:r>
          </a:p>
        </p:txBody>
      </p:sp>
    </p:spTree>
    <p:extLst>
      <p:ext uri="{BB962C8B-B14F-4D97-AF65-F5344CB8AC3E}">
        <p14:creationId xmlns:p14="http://schemas.microsoft.com/office/powerpoint/2010/main" val="11665631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UE DATES &amp; EXTENSIONS">
            <a:extLst xmlns:a="http://schemas.openxmlformats.org/drawingml/2006/main">
              <a:ext uri="{FF2B5EF4-FFF2-40B4-BE49-F238E27FC236}">
                <a16:creationId xmlns:a16="http://schemas.microsoft.com/office/drawing/2014/main" id="{0CAB5AFA-BF70-4FD5-9915-F8838DF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DUE DATES &amp; EXTENSIONS</a:t>
            </a:r>
          </a:p>
        </p:txBody>
      </p:sp>
      <p:sp>
        <p:nvSpPr>
          <p:cNvPr id="2" name="History stays intact when time chan">
            <a:extLst xmlns:a="http://schemas.openxmlformats.org/drawingml/2006/main">
              <a:ext uri="{FF2B5EF4-FFF2-40B4-BE49-F238E27FC236}">
                <a16:creationId xmlns:a16="http://schemas.microsoft.com/office/drawing/2014/main" id="{B8C21375-C20D-479B-A24D-2D4843A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History stays intact when time changes.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72498679-CAFE-43C0-BA07-59BEE51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A7732EF4-DB2A-423F-A7D7-61693F4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E4A75-5C85-4A4F-973D-B20D65810D1C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54428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Current execution status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Requested duration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Student input; due time starts at confirmed issue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Extension request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Original class-specific approval path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Pending extension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Current due date remains authoritative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Approved extension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New due-date version; previous date retained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Reminder policy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T−5 and daily overdue documented; calendar automation held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V1 configuration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 extensions; 48h collection; 24h reservation expiry value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389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TURN &amp; INSPECTION">
            <a:extLst xmlns:a="http://schemas.openxmlformats.org/drawingml/2006/main">
              <a:ext uri="{FF2B5EF4-FFF2-40B4-BE49-F238E27FC236}">
                <a16:creationId xmlns:a16="http://schemas.microsoft.com/office/drawing/2014/main" id="{85CE3501-5A87-42EF-825A-A5D381C5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RETURN &amp; INSPECTION</a:t>
            </a:r>
          </a:p>
        </p:txBody>
      </p:sp>
      <p:sp>
        <p:nvSpPr>
          <p:cNvPr id="2" name="Close custody with physical evidenc">
            <a:extLst xmlns:a="http://schemas.openxmlformats.org/drawingml/2006/main">
              <a:ext uri="{FF2B5EF4-FFF2-40B4-BE49-F238E27FC236}">
                <a16:creationId xmlns:a16="http://schemas.microsoft.com/office/drawing/2014/main" id="{C1DB8B53-BBE2-49CF-9390-8EF6636B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Close custody with physical evidence.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7A1A477F-CC5B-4CCE-9780-77C33119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A84476E3-F930-4AF0-9B1A-B4152DB7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068FA-3A47-43DC-B281-EA51FF334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7cc98967040d7"/>
          <a:srcRect xmlns:a="http://schemas.openxmlformats.org/drawingml/2006/main" l="25000" t="9000" r="25000" b="4000"/>
          <a:stretch xmlns:a="http://schemas.openxmlformats.org/drawingml/2006/main"/>
        </p:blipFill>
        <p:spPr>
          <a:xfrm xmlns:a="http://schemas.openxmlformats.org/drawingml/2006/main">
            <a:off x="6457950" y="1714500"/>
            <a:ext cx="5124450" cy="4438650"/>
          </a:xfrm>
          <a:prstGeom xmlns:a="http://schemas.openxmlformats.org/drawingml/2006/main" prst="rect">
            <a:avLst/>
          </a:prstGeom>
        </p:spPr>
      </p:pic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35D7AE8C-8ED2-419A-BF75-5E196598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nspect every issued line.">
            <a:extLst xmlns:a="http://schemas.openxmlformats.org/drawingml/2006/main">
              <a:ext uri="{FF2B5EF4-FFF2-40B4-BE49-F238E27FC236}">
                <a16:creationId xmlns:a16="http://schemas.microsoft.com/office/drawing/2014/main" id="{2B3DEBA8-C147-483F-9B39-61FA064F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Inspect every issued line.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3CD92674-DEE0-458F-B7F0-97B50DF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ord good, bad or missing quantit">
            <a:extLst xmlns:a="http://schemas.openxmlformats.org/drawingml/2006/main">
              <a:ext uri="{FF2B5EF4-FFF2-40B4-BE49-F238E27FC236}">
                <a16:creationId xmlns:a16="http://schemas.microsoft.com/office/drawing/2014/main" id="{9D3FC692-9C32-42D1-989B-3C452AFF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037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Record good, bad or missing quantities.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948C617-D771-48B0-AD64-DC77B46F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Verify each asset and its condition">
            <a:extLst xmlns:a="http://schemas.openxmlformats.org/drawingml/2006/main">
              <a:ext uri="{FF2B5EF4-FFF2-40B4-BE49-F238E27FC236}">
                <a16:creationId xmlns:a16="http://schemas.microsoft.com/office/drawing/2014/main" id="{BAF35277-617F-4433-B770-0B087E53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Verify each asset and its condition.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C7DFD67D-182E-43A5-BB98-C14D71D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concile stock and preserve the in">
            <a:extLst xmlns:a="http://schemas.openxmlformats.org/drawingml/2006/main">
              <a:ext uri="{FF2B5EF4-FFF2-40B4-BE49-F238E27FC236}">
                <a16:creationId xmlns:a16="http://schemas.microsoft.com/office/drawing/2014/main" id="{4AC86BD1-A7D1-4BF1-B532-F4212888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962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Reconcile stock and preserve the incident record.</a:t>
            </a:r>
          </a:p>
        </p:txBody>
      </p:sp>
    </p:spTree>
    <p:extLst>
      <p:ext uri="{BB962C8B-B14F-4D97-AF65-F5344CB8AC3E}">
        <p14:creationId xmlns:p14="http://schemas.microsoft.com/office/powerpoint/2010/main" val="2035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OUNTABILITY">
            <a:extLst xmlns:a="http://schemas.openxmlformats.org/drawingml/2006/main">
              <a:ext uri="{FF2B5EF4-FFF2-40B4-BE49-F238E27FC236}">
                <a16:creationId xmlns:a16="http://schemas.microsoft.com/office/drawing/2014/main" id="{C6DB2B32-3F52-4973-9777-DD14751A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2" name="Record the incident before assignin">
            <a:extLst xmlns:a="http://schemas.openxmlformats.org/drawingml/2006/main">
              <a:ext uri="{FF2B5EF4-FFF2-40B4-BE49-F238E27FC236}">
                <a16:creationId xmlns:a16="http://schemas.microsoft.com/office/drawing/2014/main" id="{41684506-B158-4D3C-84BA-645A4BBE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Record the incident before assigning blame.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7E4B2AC3-EFA9-458D-9BE6-71589800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EFF2A15C-290E-4384-A67B-3058CA7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F611B371-A782-43C5-81AC-3D4EE5C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nspection records link the item, p">
            <a:extLst xmlns:a="http://schemas.openxmlformats.org/drawingml/2006/main">
              <a:ext uri="{FF2B5EF4-FFF2-40B4-BE49-F238E27FC236}">
                <a16:creationId xmlns:a16="http://schemas.microsoft.com/office/drawing/2014/main" id="{15F69EF5-7CB9-4F91-BCF0-F1F32424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3360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Inspection records link the item, project and original issue.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0395BEF-EDCD-402C-8F0C-8A1B8C4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Condition history is preserved with">
            <a:extLst xmlns:a="http://schemas.openxmlformats.org/drawingml/2006/main">
              <a:ext uri="{FF2B5EF4-FFF2-40B4-BE49-F238E27FC236}">
                <a16:creationId xmlns:a16="http://schemas.microsoft.com/office/drawing/2014/main" id="{B96FA232-C65E-4095-B188-8F65076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Condition history is preserved without automatic student fault.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6A1D667D-DB00-4BC4-905A-4B1FAB4A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Authorized faculty can review relev">
            <a:extLst xmlns:a="http://schemas.openxmlformats.org/drawingml/2006/main">
              <a:ext uri="{FF2B5EF4-FFF2-40B4-BE49-F238E27FC236}">
                <a16:creationId xmlns:a16="http://schemas.microsoft.com/office/drawing/2014/main" id="{4D2AE981-B9F4-4DDC-B3EE-32696CF4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Authorized faculty can review relevant incident records.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D6BFF116-BA82-425C-863B-B6AA492B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No automatic fine, access block or ">
            <a:extLst xmlns:a="http://schemas.openxmlformats.org/drawingml/2006/main">
              <a:ext uri="{FF2B5EF4-FFF2-40B4-BE49-F238E27FC236}">
                <a16:creationId xmlns:a16="http://schemas.microsoft.com/office/drawing/2014/main" id="{4C89A738-E327-4C3B-93EB-E24F624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1030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No automatic fine, access block or FIFO penalty is created.</a:t>
            </a:r>
          </a:p>
        </p:txBody>
      </p:sp>
      <p:sp>
        <p:nvSpPr>
          <p:cNvPr id="13" name="Numeric REPO / NLP and retention au">
            <a:extLst xmlns:a="http://schemas.openxmlformats.org/drawingml/2006/main">
              <a:ext uri="{FF2B5EF4-FFF2-40B4-BE49-F238E27FC236}">
                <a16:creationId xmlns:a16="http://schemas.microsoft.com/office/drawing/2014/main" id="{DD2373AD-0F64-4E18-ABD9-C574521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7A45"/>
                </a:solidFill>
                <a:latin typeface="Arial"/>
                <a:ea typeface="Arial"/>
                <a:cs typeface="Arial"/>
              </a:rPr>
              <a:t>Numeric REPO / NLP and retention authorization remain explicit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6883574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UDIT &amp; HISTORY">
            <a:extLst xmlns:a="http://schemas.openxmlformats.org/drawingml/2006/main">
              <a:ext uri="{FF2B5EF4-FFF2-40B4-BE49-F238E27FC236}">
                <a16:creationId xmlns:a16="http://schemas.microsoft.com/office/drawing/2014/main" id="{E37C5723-F9A7-4FA4-84F2-99D37737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AUDIT &amp; HISTORY</a:t>
            </a:r>
          </a:p>
        </p:txBody>
      </p:sp>
      <p:sp>
        <p:nvSpPr>
          <p:cNvPr id="2" name="Every decision remains traceable.">
            <a:extLst xmlns:a="http://schemas.openxmlformats.org/drawingml/2006/main">
              <a:ext uri="{FF2B5EF4-FFF2-40B4-BE49-F238E27FC236}">
                <a16:creationId xmlns:a16="http://schemas.microsoft.com/office/drawing/2014/main" id="{F5E2ADB0-A545-4902-AF45-D4F931C3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Every decision remains traceable.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41330B28-42CD-4BE5-99F6-C99F0960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A5C78464-DDFB-4D37-8703-B776A61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C7C6A-8E4A-4553-98F4-BD6DBADDE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b3e078a2146d2"/>
          <a:srcRect xmlns:a="http://schemas.openxmlformats.org/drawingml/2006/main" l="16000" t="8000" r="0" b="4000"/>
          <a:stretch xmlns:a="http://schemas.openxmlformats.org/drawingml/2006/main"/>
        </p:blipFill>
        <p:spPr>
          <a:xfrm xmlns:a="http://schemas.openxmlformats.org/drawingml/2006/main">
            <a:off x="4762500" y="1971675"/>
            <a:ext cx="68199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Actor and timestamp&#10;Previous and ne">
            <a:extLst xmlns:a="http://schemas.openxmlformats.org/drawingml/2006/main">
              <a:ext uri="{FF2B5EF4-FFF2-40B4-BE49-F238E27FC236}">
                <a16:creationId xmlns:a16="http://schemas.microsoft.com/office/drawing/2014/main" id="{69ED66CA-EC15-4886-B0B4-CA96643E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905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Actor and timestamp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Previous and new state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Approval remarks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Issue and return events</a:t>
            </a:r>
          </a:p>
          <a:p xmlns:a="http://schemas.openxmlformats.org/drawingml/2006/main">
            <a:pPr>
              <a:defRPr sz="232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Due-date versions</a:t>
            </a:r>
          </a:p>
        </p:txBody>
      </p:sp>
      <p:sp>
        <p:nvSpPr>
          <p:cNvPr id="7" name="Raw audit records are append-only.">
            <a:extLst xmlns:a="http://schemas.openxmlformats.org/drawingml/2006/main">
              <a:ext uri="{FF2B5EF4-FFF2-40B4-BE49-F238E27FC236}">
                <a16:creationId xmlns:a16="http://schemas.microsoft.com/office/drawing/2014/main" id="{980533C5-1ECC-46F0-9042-64DE6E6B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Raw audit records are append-only.</a:t>
            </a:r>
          </a:p>
        </p:txBody>
      </p:sp>
    </p:spTree>
    <p:extLst>
      <p:ext uri="{BB962C8B-B14F-4D97-AF65-F5344CB8AC3E}">
        <p14:creationId xmlns:p14="http://schemas.microsoft.com/office/powerpoint/2010/main" val="3882661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OTIFICATIONS &amp; UNMET DEMAND">
            <a:extLst xmlns:a="http://schemas.openxmlformats.org/drawingml/2006/main">
              <a:ext uri="{FF2B5EF4-FFF2-40B4-BE49-F238E27FC236}">
                <a16:creationId xmlns:a16="http://schemas.microsoft.com/office/drawing/2014/main" id="{6267471C-C493-48AF-8496-88325FB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NOTIFICATIONS &amp; UNMET DEMAND</a:t>
            </a:r>
          </a:p>
        </p:txBody>
      </p:sp>
      <p:sp>
        <p:nvSpPr>
          <p:cNvPr id="2" name="One event, independent delivery cha">
            <a:extLst xmlns:a="http://schemas.openxmlformats.org/drawingml/2006/main">
              <a:ext uri="{FF2B5EF4-FFF2-40B4-BE49-F238E27FC236}">
                <a16:creationId xmlns:a16="http://schemas.microsoft.com/office/drawing/2014/main" id="{BAE5A86B-ABA2-43B3-A244-7E1B46E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One event, independent delivery channels.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665A6C40-24E6-415E-8B1B-9B313561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7A3E8121-4CDA-41F2-A50D-FED5980D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540AC-5637-4FB0-B198-01F4F0CDA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31b6fb0984d99"/>
          <a:srcRect xmlns:a="http://schemas.openxmlformats.org/drawingml/2006/main" l="16000" t="6000" r="0" b="4000"/>
          <a:stretch xmlns:a="http://schemas.openxmlformats.org/drawingml/2006/main"/>
        </p:blipFill>
        <p:spPr>
          <a:xfrm xmlns:a="http://schemas.openxmlformats.org/drawingml/2006/main">
            <a:off x="5000625" y="1952625"/>
            <a:ext cx="6581775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Domain transaction&#10;↓&#10;SQL outbox&#10;↓&#10;I">
            <a:extLst xmlns:a="http://schemas.openxmlformats.org/drawingml/2006/main">
              <a:ext uri="{FF2B5EF4-FFF2-40B4-BE49-F238E27FC236}">
                <a16:creationId xmlns:a16="http://schemas.microsoft.com/office/drawing/2014/main" id="{4F1AB5FF-F2A9-42C5-A0AD-0BEC88F0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952875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Domain transaction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SQL outbox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4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In-app + email delivery</a:t>
            </a:r>
          </a:p>
        </p:txBody>
      </p:sp>
      <p:sp>
        <p:nvSpPr>
          <p:cNvPr id="7" name="Local mail previews are working.&#10;Gm">
            <a:extLst xmlns:a="http://schemas.openxmlformats.org/drawingml/2006/main">
              <a:ext uri="{FF2B5EF4-FFF2-40B4-BE49-F238E27FC236}">
                <a16:creationId xmlns:a16="http://schemas.microsoft.com/office/drawing/2014/main" id="{3F6AF8F7-CD08-4FA1-ADB5-D22D7D56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Local mail previews are working.</a:t>
            </a:r>
          </a:p>
          <a:p xmlns:a="http://schemas.openxmlformats.org/drawingml/2006/main">
            <a: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Gmail and Mongo require configured services.</a:t>
            </a:r>
          </a:p>
          <a:p xmlns:a="http://schemas.openxmlformats.org/drawingml/2006/main">
            <a:pPr>
              <a:defRPr sz="165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Shortages feed demand analytics.</a:t>
            </a:r>
          </a:p>
        </p:txBody>
      </p:sp>
    </p:spTree>
    <p:extLst>
      <p:ext uri="{BB962C8B-B14F-4D97-AF65-F5344CB8AC3E}">
        <p14:creationId xmlns:p14="http://schemas.microsoft.com/office/powerpoint/2010/main" val="9789052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CHNICAL ARCHITECTURE">
            <a:extLst xmlns:a="http://schemas.openxmlformats.org/drawingml/2006/main">
              <a:ext uri="{FF2B5EF4-FFF2-40B4-BE49-F238E27FC236}">
                <a16:creationId xmlns:a16="http://schemas.microsoft.com/office/drawing/2014/main" id="{4CF001D5-D27B-49DB-9B38-54226873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Business truth has one owner.">
            <a:extLst xmlns:a="http://schemas.openxmlformats.org/drawingml/2006/main">
              <a:ext uri="{FF2B5EF4-FFF2-40B4-BE49-F238E27FC236}">
                <a16:creationId xmlns:a16="http://schemas.microsoft.com/office/drawing/2014/main" id="{F2A5B47B-B4E1-4486-BA2B-A79D2759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Business truth has one owner.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A78F0F1B-7636-430A-9E3C-F81887D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6A5ED0D4-9644-43E8-82DC-9AEBF5A2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0D6AC-CD52-4155-A565-F73A300E2FB7}"/>
              </a:ext>
            </a:extLst>
          </p:cNvPr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286250"/>
                <a:gridCol w="4448175"/>
              </a:tblGrid>
              <a:tr h="603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Recorded direction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What ran in this session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Web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React + Vite + TypeScript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Built client + browser lifecycle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FastAPI / Pydantic / OpenAPI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Authenticated API + generated types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Transactional data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MySQL 8.4 / SQLAlchemy / Alembic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SQLite local profile + migration checks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Documents / analytics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MongoDB projections / aggregations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Local adapter; Mongo artifacts prepared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Packaging / delivery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Docker / GitHub Actions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Configuration prepared; engine unavailable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AWS primary · Azure isolated stagin">
            <a:extLst xmlns:a="http://schemas.openxmlformats.org/drawingml/2006/main">
              <a:ext uri="{FF2B5EF4-FFF2-40B4-BE49-F238E27FC236}">
                <a16:creationId xmlns:a16="http://schemas.microsoft.com/office/drawing/2014/main" id="{11890594-8037-4D96-99B7-9EC1A01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AWS primary · Azure isolated staging · GCP read-only — documented roles, no live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15472885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I-ASSISTED SUPPORT">
            <a:extLst xmlns:a="http://schemas.openxmlformats.org/drawingml/2006/main">
              <a:ext uri="{FF2B5EF4-FFF2-40B4-BE49-F238E27FC236}">
                <a16:creationId xmlns:a16="http://schemas.microsoft.com/office/drawing/2014/main" id="{1234C365-6AB2-4C28-80F2-0E77D230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AI-ASSISTED SUPPORT</a:t>
            </a:r>
          </a:p>
        </p:txBody>
      </p:sp>
      <p:sp>
        <p:nvSpPr>
          <p:cNvPr id="2" name="Advice stays behind inventory valid">
            <a:extLst xmlns:a="http://schemas.openxmlformats.org/drawingml/2006/main">
              <a:ext uri="{FF2B5EF4-FFF2-40B4-BE49-F238E27FC236}">
                <a16:creationId xmlns:a16="http://schemas.microsoft.com/office/drawing/2014/main" id="{C7A9F3AE-5F62-4D6A-8021-F26EA26C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Advice stays behind inventory validation.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02AB30E7-7AFE-4D35-AB95-036DA6FF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D35B3AC1-93D5-44FE-845D-2093D942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FA761FC-4D0E-4E49-BEF3-FE204A8B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urated alternatives are matched ag">
            <a:extLst xmlns:a="http://schemas.openxmlformats.org/drawingml/2006/main">
              <a:ext uri="{FF2B5EF4-FFF2-40B4-BE49-F238E27FC236}">
                <a16:creationId xmlns:a16="http://schemas.microsoft.com/office/drawing/2014/main" id="{A46CF319-A202-4716-BE16-1389C37F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Curated alternatives are matched against technical metadata.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F679499-3A52-4506-923D-8DE54D09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Current MySQL / local SQL stock is ">
            <a:extLst xmlns:a="http://schemas.openxmlformats.org/drawingml/2006/main">
              <a:ext uri="{FF2B5EF4-FFF2-40B4-BE49-F238E27FC236}">
                <a16:creationId xmlns:a16="http://schemas.microsoft.com/office/drawing/2014/main" id="{21431944-8909-4C2A-810E-45E67867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Current MySQL / local SQL stock is checked before display.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303D5E22-0177-4265-85D6-C5F67F16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Optional AI may explain and rank th">
            <a:extLst xmlns:a="http://schemas.openxmlformats.org/drawingml/2006/main">
              <a:ext uri="{FF2B5EF4-FFF2-40B4-BE49-F238E27FC236}">
                <a16:creationId xmlns:a16="http://schemas.microsoft.com/office/drawing/2014/main" id="{93304FE3-3648-416C-8F17-2E5BF79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Optional AI may explain and rank the allowed candidates.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2A3F3D3C-BA42-4654-BE27-760C6CE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97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7A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AI never approves, issues, changes ">
            <a:extLst xmlns:a="http://schemas.openxmlformats.org/drawingml/2006/main">
              <a:ext uri="{FF2B5EF4-FFF2-40B4-BE49-F238E27FC236}">
                <a16:creationId xmlns:a16="http://schemas.microsoft.com/office/drawing/2014/main" id="{C214C0CD-6DD3-499F-A6C3-28354502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1030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AI never approves, issues, changes stock or reorders FIFO.</a:t>
            </a:r>
          </a:p>
        </p:txBody>
      </p:sp>
      <p:sp>
        <p:nvSpPr>
          <p:cNvPr id="13" name="Implemented: deterministic catalogu">
            <a:extLst xmlns:a="http://schemas.openxmlformats.org/drawingml/2006/main">
              <a:ext uri="{FF2B5EF4-FFF2-40B4-BE49-F238E27FC236}">
                <a16:creationId xmlns:a16="http://schemas.microsoft.com/office/drawing/2014/main" id="{EFC71B4D-8C0A-4A43-9182-428D6706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Implemented: deterministic catalogue alternatives.</a:t>
            </a:r>
          </a:p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External BrowserAPIFree / ChatGPT adapter remains unconnected.</a:t>
            </a:r>
          </a:p>
        </p:txBody>
      </p:sp>
    </p:spTree>
    <p:extLst>
      <p:ext uri="{BB962C8B-B14F-4D97-AF65-F5344CB8AC3E}">
        <p14:creationId xmlns:p14="http://schemas.microsoft.com/office/powerpoint/2010/main" val="16416934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ADEMIC RELEVANCE">
            <a:extLst xmlns:a="http://schemas.openxmlformats.org/drawingml/2006/main">
              <a:ext uri="{FF2B5EF4-FFF2-40B4-BE49-F238E27FC236}">
                <a16:creationId xmlns:a16="http://schemas.microsoft.com/office/drawing/2014/main" id="{3F8D5C2D-35FF-4A60-A74A-77EB217B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ACADEMIC RELEVANCE</a:t>
            </a:r>
          </a:p>
        </p:txBody>
      </p:sp>
      <p:sp>
        <p:nvSpPr>
          <p:cNvPr id="2" name="A running application supports the ">
            <a:extLst xmlns:a="http://schemas.openxmlformats.org/drawingml/2006/main">
              <a:ext uri="{FF2B5EF4-FFF2-40B4-BE49-F238E27FC236}">
                <a16:creationId xmlns:a16="http://schemas.microsoft.com/office/drawing/2014/main" id="{29AB14AD-B70D-4BF9-96CA-2E68BBA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A running application supports the rubric.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A6C90528-869D-4CF5-8DED-B701DC49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CA1CABC5-DC70-43CF-8EB1-0845E19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50345-5EA5-4ACE-85F6-C470D6235FE6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381750"/>
                <a:gridCol w="1257300"/>
              </a:tblGrid>
              <a:tr h="5826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DCDS criterion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Evidence prepared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Marks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Design + functionality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Project-based lifecycle and role boundaries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Python implementation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Modular API/services, validation, file handling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SQL + NoSQL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MySQL/Mongo artifacts; local runtime disclosed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Advanced querying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Joins/grouping, stored routine, Mongo aggregation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Code / docs + testing / security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Execution docs, contracts, race/negative tests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1 + 1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</a:tbl>
          </a:graphicData>
        </a:graphic>
      </p:graphicFrame>
      <p:sp>
        <p:nvSpPr>
          <p:cNvPr id="6" name="CCE: topic 5 · research 5 · present">
            <a:extLst xmlns:a="http://schemas.openxmlformats.org/drawingml/2006/main">
              <a:ext uri="{FF2B5EF4-FFF2-40B4-BE49-F238E27FC236}">
                <a16:creationId xmlns:a16="http://schemas.microsoft.com/office/drawing/2014/main" id="{5698C4FC-C9A6-4A3B-9875-3BBE3242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CCE: topic 5 · research 5 · presentation 5 · running example 10 · viva 5</a:t>
            </a:r>
          </a:p>
        </p:txBody>
      </p:sp>
    </p:spTree>
    <p:extLst>
      <p:ext uri="{BB962C8B-B14F-4D97-AF65-F5344CB8AC3E}">
        <p14:creationId xmlns:p14="http://schemas.microsoft.com/office/powerpoint/2010/main" val="3711560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UNNING EXAMPLE">
            <a:extLst xmlns:a="http://schemas.openxmlformats.org/drawingml/2006/main">
              <a:ext uri="{FF2B5EF4-FFF2-40B4-BE49-F238E27FC236}">
                <a16:creationId xmlns:a16="http://schemas.microsoft.com/office/drawing/2014/main" id="{B544F221-31A0-4720-8E02-84C4D7FA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RUNNING EXAMPLE</a:t>
            </a:r>
          </a:p>
        </p:txBody>
      </p:sp>
      <p:sp>
        <p:nvSpPr>
          <p:cNvPr id="2" name="Autonomous rover: request to return">
            <a:extLst xmlns:a="http://schemas.openxmlformats.org/drawingml/2006/main">
              <a:ext uri="{FF2B5EF4-FFF2-40B4-BE49-F238E27FC236}">
                <a16:creationId xmlns:a16="http://schemas.microsoft.com/office/drawing/2014/main" id="{0C8DF1ED-B616-4B2A-B4BC-47D32A58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Autonomous rover: request to return.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BDF92B35-6031-4335-970C-ECF8FC40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3EF21911-405D-4C63-9C8D-FC18EE1C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21D8663-DB7D-4990-B480-25A5054F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udent creates project, selects me">
            <a:extLst xmlns:a="http://schemas.openxmlformats.org/drawingml/2006/main">
              <a:ext uri="{FF2B5EF4-FFF2-40B4-BE49-F238E27FC236}">
                <a16:creationId xmlns:a16="http://schemas.microsoft.com/office/drawing/2014/main" id="{7675F1F1-765C-4E39-9292-A3C4413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Student creates project, selects mentor and enters components.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A483C0AC-CA07-4A87-8374-1B488DDD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Mentor → class-specific stage → HoD">
            <a:extLst xmlns:a="http://schemas.openxmlformats.org/drawingml/2006/main">
              <a:ext uri="{FF2B5EF4-FFF2-40B4-BE49-F238E27FC236}">
                <a16:creationId xmlns:a16="http://schemas.microsoft.com/office/drawing/2014/main" id="{FC167CBB-45DE-49AA-8816-18AF7BE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38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Mentor → class-specific stage → HoD approval.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61770D82-174A-4F6D-844B-99942999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Assistant claims, verifies and conf">
            <a:extLst xmlns:a="http://schemas.openxmlformats.org/drawingml/2006/main">
              <a:ext uri="{FF2B5EF4-FFF2-40B4-BE49-F238E27FC236}">
                <a16:creationId xmlns:a16="http://schemas.microsoft.com/office/drawing/2014/main" id="{EB434252-36CE-40DA-839A-A5932A8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Assistant claims, verifies and confirms full issue.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B0B6A1E0-029E-495E-9158-64A27B11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Extension preserves due-date histor">
            <a:extLst xmlns:a="http://schemas.openxmlformats.org/drawingml/2006/main">
              <a:ext uri="{FF2B5EF4-FFF2-40B4-BE49-F238E27FC236}">
                <a16:creationId xmlns:a16="http://schemas.microsoft.com/office/drawing/2014/main" id="{7C114B27-1C9C-4CD9-AD85-42B69255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Extension preserves due-date history; return closes custody.</a:t>
            </a:r>
          </a:p>
        </p:txBody>
      </p:sp>
      <p:sp>
        <p:nvSpPr>
          <p:cNvPr id="13" name="05">
            <a:extLst xmlns:a="http://schemas.openxmlformats.org/drawingml/2006/main">
              <a:ext uri="{FF2B5EF4-FFF2-40B4-BE49-F238E27FC236}">
                <a16:creationId xmlns:a16="http://schemas.microsoft.com/office/drawing/2014/main" id="{2F4EC6A4-4119-45F1-9CA9-8383F8B8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9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Unavailable LiDAR demonstrates FIFO">
            <a:extLst xmlns:a="http://schemas.openxmlformats.org/drawingml/2006/main">
              <a:ext uri="{FF2B5EF4-FFF2-40B4-BE49-F238E27FC236}">
                <a16:creationId xmlns:a16="http://schemas.microsoft.com/office/drawing/2014/main" id="{C6BCE272-27A5-4F55-809B-F10F6658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24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Unavailable LiDAR demonstrates FIFO enrollment and demand.</a:t>
            </a:r>
          </a:p>
        </p:txBody>
      </p:sp>
    </p:spTree>
    <p:extLst>
      <p:ext uri="{BB962C8B-B14F-4D97-AF65-F5344CB8AC3E}">
        <p14:creationId xmlns:p14="http://schemas.microsoft.com/office/powerpoint/2010/main" val="1081663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IES &amp; FUTURE SCOPE">
            <a:extLst xmlns:a="http://schemas.openxmlformats.org/drawingml/2006/main">
              <a:ext uri="{FF2B5EF4-FFF2-40B4-BE49-F238E27FC236}">
                <a16:creationId xmlns:a16="http://schemas.microsoft.com/office/drawing/2014/main" id="{5651EE03-BA25-4DDE-9967-ED63504D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8373"/>
                </a:solidFill>
                <a:latin typeface="Arial"/>
                <a:ea typeface="Arial"/>
                <a:cs typeface="Arial"/>
              </a:rPr>
              <a:t>BOUNDARIES &amp; FUTURE SCOPE</a:t>
            </a:r>
          </a:p>
        </p:txBody>
      </p:sp>
      <p:sp>
        <p:nvSpPr>
          <p:cNvPr id="2" name="Finish the policy before expanding ">
            <a:extLst xmlns:a="http://schemas.openxmlformats.org/drawingml/2006/main">
              <a:ext uri="{FF2B5EF4-FFF2-40B4-BE49-F238E27FC236}">
                <a16:creationId xmlns:a16="http://schemas.microsoft.com/office/drawing/2014/main" id="{24E7B3AA-4C8B-4A9F-AC94-EB0D4FA4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3B34"/>
                </a:solidFill>
                <a:latin typeface="Arial"/>
                <a:ea typeface="Arial"/>
                <a:cs typeface="Arial"/>
              </a:rPr>
              <a:t>Finish the policy before expanding automation.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DAEC4185-B3EF-4604-84D0-C65C0922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BD61B4ED-C4C4-4273-9374-F6262D62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D8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83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6581C-2BFB-494F-98F6-B7D51B68BC0A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7912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Needs department decision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7E9"/>
                          </a:solidFill>
                          <a:latin typeface="Arial"/>
                          <a:ea typeface="Arial"/>
                          <a:cs typeface="Arial"/>
                        </a:rPr>
                        <a:t>Future / institutional integration</a:t>
                      </a:r>
                    </a:p>
                  </a:txBody>
                  <a:tcPr marL="91440" marR="91440" marT="45720" marB="45720">
                    <a:solidFill>
                      <a:srgbClr val="183B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Reservation holds and pickup progression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Institutional authentication and master data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Calendar catch-up and late extensions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College-managed infrastructure / cloud approval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Retention approval and staged returns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Asset transfers / cross-department governance</a:t>
                      </a:r>
                    </a:p>
                  </a:txBody>
                  <a:tcPr marL="91440" marR="91440" marT="45720" marB="45720">
                    <a:solidFill>
                      <a:srgbClr val="EEF2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REPO score, attribution and optional NLP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4"/>
                          </a:solidFill>
                          <a:latin typeface="Arial"/>
                          <a:ea typeface="Arial"/>
                          <a:cs typeface="Arial"/>
                        </a:rPr>
                        <a:t>Mobile / Play Store, procurement and payments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  <p:sp>
        <p:nvSpPr>
          <p:cNvPr id="6" name="The working prototype continues ind">
            <a:extLst xmlns:a="http://schemas.openxmlformats.org/drawingml/2006/main">
              <a:ext uri="{FF2B5EF4-FFF2-40B4-BE49-F238E27FC236}">
                <a16:creationId xmlns:a16="http://schemas.microsoft.com/office/drawing/2014/main" id="{5D84A9B8-A009-4288-8495-A9DE1766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B3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B34"/>
                </a:solidFill>
                <a:latin typeface="Arial"/>
                <a:ea typeface="Arial"/>
                <a:cs typeface="Arial"/>
              </a:rPr>
              <a:t>The working prototype continues independently at every defined boundary.</a:t>
            </a:r>
          </a:p>
        </p:txBody>
      </p:sp>
    </p:spTree>
    <p:extLst>
      <p:ext uri="{BB962C8B-B14F-4D97-AF65-F5344CB8AC3E}">
        <p14:creationId xmlns:p14="http://schemas.microsoft.com/office/powerpoint/2010/main" val="4855741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ABTRACK · QUESTIONS &amp; DEMONSTRATIO">
            <a:extLst xmlns:a="http://schemas.openxmlformats.org/drawingml/2006/main">
              <a:ext uri="{FF2B5EF4-FFF2-40B4-BE49-F238E27FC236}">
                <a16:creationId xmlns:a16="http://schemas.microsoft.com/office/drawing/2014/main" id="{E122DE1F-0008-4278-844D-D453017F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D93"/>
                </a:solidFill>
                <a:latin typeface="Arial"/>
                <a:ea typeface="Arial"/>
                <a:cs typeface="Arial"/>
              </a:rPr>
              <a:t>LABTRACK · QUESTIONS &amp; DEMONSTRATION</a:t>
            </a:r>
          </a:p>
        </p:txBody>
      </p:sp>
      <p:sp>
        <p:nvSpPr>
          <p:cNvPr id="2" name="A project record you can follow.">
            <a:extLst xmlns:a="http://schemas.openxmlformats.org/drawingml/2006/main">
              <a:ext uri="{FF2B5EF4-FFF2-40B4-BE49-F238E27FC236}">
                <a16:creationId xmlns:a16="http://schemas.microsoft.com/office/drawing/2014/main" id="{474416D0-9398-4583-8903-04B04E2F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E9"/>
                </a:solidFill>
                <a:latin typeface="Arial"/>
                <a:ea typeface="Arial"/>
                <a:cs typeface="Arial"/>
              </a:rPr>
              <a:t>A project record you can follow.</a:t>
            </a:r>
          </a:p>
        </p:txBody>
      </p:sp>
      <p:sp>
        <p:nvSpPr>
          <p:cNvPr id="3" name="LABTRACK  /  ROBOTICS &amp; AUTOMATION">
            <a:extLst xmlns:a="http://schemas.openxmlformats.org/drawingml/2006/main">
              <a:ext uri="{FF2B5EF4-FFF2-40B4-BE49-F238E27FC236}">
                <a16:creationId xmlns:a16="http://schemas.microsoft.com/office/drawing/2014/main" id="{DC06F680-7EF6-4F8F-A29B-45EB84C2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8EA89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EA895"/>
                </a:solidFill>
                <a:latin typeface="Arial"/>
                <a:ea typeface="Arial"/>
                <a:cs typeface="Arial"/>
              </a:rPr>
              <a:t>LABTRACK  /  ROBOTICS &amp; AUTOMATION</a:t>
            </a:r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5EC91653-888E-41C3-BCB0-7B40408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From the component requirement&#10;to t">
            <a:extLst xmlns:a="http://schemas.openxmlformats.org/drawingml/2006/main">
              <a:ext uri="{FF2B5EF4-FFF2-40B4-BE49-F238E27FC236}">
                <a16:creationId xmlns:a16="http://schemas.microsoft.com/office/drawing/2014/main" id="{90F6CAB3-8585-488D-AADD-3830F23C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763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From the component requirement</a:t>
            </a:r>
          </a:p>
          <a:p xmlns:a="http://schemas.openxmlformats.org/drawingml/2006/main">
            <a: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to the physical handover</a:t>
            </a:r>
          </a:p>
          <a:p xmlns:a="http://schemas.openxmlformats.org/drawingml/2006/main">
            <a:pPr>
              <a:defRPr sz="3525" b="0">
                <a:solidFill>
                  <a:srgbClr val="F4F7E9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4F7E9"/>
                </a:solidFill>
                <a:latin typeface="Arial"/>
                <a:ea typeface="Arial"/>
                <a:cs typeface="Arial"/>
              </a:rPr>
              <a:t>to the complete return history.</a:t>
            </a:r>
          </a:p>
        </p:txBody>
      </p:sp>
      <p:sp>
        <p:nvSpPr>
          <p:cNvPr id="6" name="Open the running prototype.&#10;Trace o">
            <a:extLst xmlns:a="http://schemas.openxmlformats.org/drawingml/2006/main">
              <a:ext uri="{FF2B5EF4-FFF2-40B4-BE49-F238E27FC236}">
                <a16:creationId xmlns:a16="http://schemas.microsoft.com/office/drawing/2014/main" id="{ACDB2597-354F-42E4-9058-DFE0066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0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Open the running prototype.</a:t>
            </a:r>
          </a:p>
          <a:p xmlns:a="http://schemas.openxmlformats.org/drawingml/2006/main">
            <a:pPr>
              <a:defRPr sz="2475" b="0">
                <a:solidFill>
                  <a:srgbClr val="C6DD9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C6DD93"/>
                </a:solidFill>
                <a:latin typeface="Arial"/>
                <a:ea typeface="Arial"/>
                <a:cs typeface="Arial"/>
              </a:rPr>
              <a:t>Trace one request together.</a:t>
            </a:r>
          </a:p>
        </p:txBody>
      </p:sp>
    </p:spTree>
    <p:extLst>
      <p:ext uri="{BB962C8B-B14F-4D97-AF65-F5344CB8AC3E}">
        <p14:creationId xmlns:p14="http://schemas.microsoft.com/office/powerpoint/2010/main" val="1484629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2026-10-15T18:28:09.4370000Z</dcterms:created>
  <dcterms:modified xsi:type="dcterms:W3CDTF">2026-10-15T18:28:09.4370000Z</dcterms:modified>
</coreProperties>
</file>